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Rectangle 1"/>
          <p:cNvSpPr/>
          <p:nvPr/>
        </p:nvSpPr>
        <p:spPr>
          <a:xfrm>
            <a:off x="8183879" y="0"/>
            <a:ext cx="4005072" cy="6858000"/>
          </a:xfrm>
          <a:prstGeom prst="rect">
            <a:avLst/>
          </a:prstGeom>
          <a:solidFill>
            <a:srgbClr val="183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7132320" cy="320040"/>
          </a:xfrm>
          <a:prstGeom prst="rect">
            <a:avLst/>
          </a:prstGeom>
          <a:noFill/>
        </p:spPr>
        <p:txBody>
          <a:bodyPr wrap="square" lIns="54864" rIns="54864" tIns="54864" bIns="54864" anchor="t">
            <a:spAutoFit/>
          </a:bodyPr>
          <a:lstStyle/>
          <a:p>
            <a:pPr algn="l">
              <a:spcAft>
                <a:spcPts val="400"/>
              </a:spcAft>
              <a:defRPr sz="1500" b="1">
                <a:solidFill>
                  <a:srgbClr val="39B8BE"/>
                </a:solidFill>
                <a:latin typeface="Aptos"/>
              </a:defRPr>
            </a:pPr>
            <a:r>
              <a:t>DSA 3  |  PROJECT PRESENTATION</a:t>
            </a:r>
          </a:p>
        </p:txBody>
      </p:sp>
      <p:sp>
        <p:nvSpPr>
          <p:cNvPr id="4" name="TextBox 3"/>
          <p:cNvSpPr txBox="1"/>
          <p:nvPr/>
        </p:nvSpPr>
        <p:spPr>
          <a:xfrm>
            <a:off x="685800" y="1115568"/>
            <a:ext cx="7132320" cy="1463040"/>
          </a:xfrm>
          <a:prstGeom prst="rect">
            <a:avLst/>
          </a:prstGeom>
          <a:noFill/>
        </p:spPr>
        <p:txBody>
          <a:bodyPr wrap="square" lIns="54864" rIns="54864" tIns="54864" bIns="54864" anchor="t">
            <a:spAutoFit/>
          </a:bodyPr>
          <a:lstStyle/>
          <a:p>
            <a:pPr algn="l">
              <a:spcAft>
                <a:spcPts val="700"/>
              </a:spcAft>
              <a:defRPr sz="3100" b="1">
                <a:solidFill>
                  <a:srgbClr val="FFFFFF"/>
                </a:solidFill>
                <a:latin typeface="Aptos"/>
              </a:defRPr>
            </a:pPr>
            <a:r>
              <a:t>Edmonds–Karp Maximum Flow</a:t>
            </a:r>
          </a:p>
          <a:p>
            <a:pPr algn="l">
              <a:spcAft>
                <a:spcPts val="700"/>
              </a:spcAft>
              <a:defRPr sz="3100" b="1">
                <a:solidFill>
                  <a:srgbClr val="FFFFFF"/>
                </a:solidFill>
                <a:latin typeface="Aptos"/>
              </a:defRPr>
            </a:pPr>
            <a:r>
              <a:t>Visualization Using BFS</a:t>
            </a:r>
          </a:p>
        </p:txBody>
      </p:sp>
      <p:sp>
        <p:nvSpPr>
          <p:cNvPr id="5" name="TextBox 4"/>
          <p:cNvSpPr txBox="1"/>
          <p:nvPr/>
        </p:nvSpPr>
        <p:spPr>
          <a:xfrm>
            <a:off x="713232" y="2788920"/>
            <a:ext cx="6949440" cy="502920"/>
          </a:xfrm>
          <a:prstGeom prst="rect">
            <a:avLst/>
          </a:prstGeom>
          <a:noFill/>
        </p:spPr>
        <p:txBody>
          <a:bodyPr wrap="square" lIns="54864" rIns="54864" tIns="54864" bIns="54864" anchor="t">
            <a:spAutoFit/>
          </a:bodyPr>
          <a:lstStyle/>
          <a:p>
            <a:pPr algn="l">
              <a:spcAft>
                <a:spcPts val="700"/>
              </a:spcAft>
              <a:defRPr sz="2100" b="1">
                <a:solidFill>
                  <a:srgbClr val="C1DCEF"/>
                </a:solidFill>
                <a:latin typeface="Aptos"/>
              </a:defRPr>
            </a:pPr>
            <a:r>
              <a:t>Application: Water Distribution Network</a:t>
            </a:r>
          </a:p>
        </p:txBody>
      </p:sp>
      <p:sp>
        <p:nvSpPr>
          <p:cNvPr id="6" name="Rectangle 5"/>
          <p:cNvSpPr/>
          <p:nvPr/>
        </p:nvSpPr>
        <p:spPr>
          <a:xfrm>
            <a:off x="731520" y="3456432"/>
            <a:ext cx="1051560" cy="54864"/>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703320"/>
            <a:ext cx="6995160" cy="274320"/>
          </a:xfrm>
          <a:prstGeom prst="rect">
            <a:avLst/>
          </a:prstGeom>
          <a:noFill/>
        </p:spPr>
        <p:txBody>
          <a:bodyPr wrap="square" lIns="54864" rIns="54864" tIns="54864" bIns="54864" anchor="t">
            <a:spAutoFit/>
          </a:bodyPr>
          <a:lstStyle/>
          <a:p>
            <a:pPr algn="l">
              <a:spcAft>
                <a:spcPts val="400"/>
              </a:spcAft>
              <a:defRPr sz="1200" b="1">
                <a:solidFill>
                  <a:srgbClr val="39B8BE"/>
                </a:solidFill>
                <a:latin typeface="Aptos"/>
              </a:defRPr>
            </a:pPr>
            <a:r>
              <a:t>TEAM MEMBERS</a:t>
            </a:r>
          </a:p>
        </p:txBody>
      </p:sp>
      <p:sp>
        <p:nvSpPr>
          <p:cNvPr id="8" name="TextBox 7"/>
          <p:cNvSpPr txBox="1"/>
          <p:nvPr/>
        </p:nvSpPr>
        <p:spPr>
          <a:xfrm>
            <a:off x="713232" y="4005072"/>
            <a:ext cx="7132320" cy="1051560"/>
          </a:xfrm>
          <a:prstGeom prst="rect">
            <a:avLst/>
          </a:prstGeom>
          <a:noFill/>
        </p:spPr>
        <p:txBody>
          <a:bodyPr wrap="square" lIns="54864" rIns="54864" tIns="54864" bIns="54864" anchor="t">
            <a:spAutoFit/>
          </a:bodyPr>
          <a:lstStyle/>
          <a:p>
            <a:pPr algn="l">
              <a:spcAft>
                <a:spcPts val="700"/>
              </a:spcAft>
              <a:defRPr sz="1600" b="0">
                <a:solidFill>
                  <a:srgbClr val="FFFFFF"/>
                </a:solidFill>
                <a:latin typeface="Aptos"/>
              </a:defRPr>
            </a:pPr>
            <a:r>
              <a:t>Y. Uttej  —  2520030439</a:t>
            </a:r>
          </a:p>
          <a:p>
            <a:pPr algn="l">
              <a:spcAft>
                <a:spcPts val="700"/>
              </a:spcAft>
              <a:defRPr sz="1600" b="0">
                <a:solidFill>
                  <a:srgbClr val="FFFFFF"/>
                </a:solidFill>
                <a:latin typeface="Aptos"/>
              </a:defRPr>
            </a:pPr>
            <a:r>
              <a:t>G. Hitesh  —  2520030370</a:t>
            </a:r>
          </a:p>
          <a:p>
            <a:pPr algn="l">
              <a:spcAft>
                <a:spcPts val="700"/>
              </a:spcAft>
              <a:defRPr sz="1600" b="0">
                <a:solidFill>
                  <a:srgbClr val="FFFFFF"/>
                </a:solidFill>
                <a:latin typeface="Aptos"/>
              </a:defRPr>
            </a:pPr>
            <a:r>
              <a:t>K. Sudheer  —  2520030470</a:t>
            </a:r>
          </a:p>
        </p:txBody>
      </p:sp>
      <p:sp>
        <p:nvSpPr>
          <p:cNvPr id="9" name="TextBox 8"/>
          <p:cNvSpPr txBox="1"/>
          <p:nvPr/>
        </p:nvSpPr>
        <p:spPr>
          <a:xfrm>
            <a:off x="713232" y="5349240"/>
            <a:ext cx="7040880" cy="347472"/>
          </a:xfrm>
          <a:prstGeom prst="rect">
            <a:avLst/>
          </a:prstGeom>
          <a:noFill/>
        </p:spPr>
        <p:txBody>
          <a:bodyPr wrap="square" lIns="54864" rIns="54864" tIns="54864" bIns="54864" anchor="t">
            <a:spAutoFit/>
          </a:bodyPr>
          <a:lstStyle/>
          <a:p>
            <a:pPr algn="l">
              <a:spcAft>
                <a:spcPts val="700"/>
              </a:spcAft>
              <a:defRPr sz="1600" b="1">
                <a:solidFill>
                  <a:srgbClr val="FFFFFF"/>
                </a:solidFill>
                <a:latin typeface="Aptos"/>
              </a:defRPr>
            </a:pPr>
            <a:r>
              <a:t>Guide: J. Yamini Devi</a:t>
            </a:r>
          </a:p>
        </p:txBody>
      </p:sp>
      <p:sp>
        <p:nvSpPr>
          <p:cNvPr id="10" name="TextBox 9"/>
          <p:cNvSpPr txBox="1"/>
          <p:nvPr/>
        </p:nvSpPr>
        <p:spPr>
          <a:xfrm>
            <a:off x="713232" y="5897880"/>
            <a:ext cx="6858000" cy="274320"/>
          </a:xfrm>
          <a:prstGeom prst="rect">
            <a:avLst/>
          </a:prstGeom>
          <a:noFill/>
        </p:spPr>
        <p:txBody>
          <a:bodyPr wrap="square" lIns="54864" rIns="54864" tIns="54864" bIns="54864" anchor="t">
            <a:spAutoFit/>
          </a:bodyPr>
          <a:lstStyle/>
          <a:p>
            <a:pPr algn="l">
              <a:spcAft>
                <a:spcPts val="400"/>
              </a:spcAft>
              <a:defRPr sz="1300" b="0">
                <a:solidFill>
                  <a:srgbClr val="C1DCEF"/>
                </a:solidFill>
                <a:latin typeface="Aptos"/>
              </a:defRPr>
            </a:pPr>
            <a:r>
              <a:t>Subject: DSA 3</a:t>
            </a:r>
          </a:p>
        </p:txBody>
      </p:sp>
      <p:cxnSp>
        <p:nvCxnSpPr>
          <p:cNvPr id="11" name="Connector 10"/>
          <p:cNvCxnSpPr/>
          <p:nvPr/>
        </p:nvCxnSpPr>
        <p:spPr>
          <a:xfrm flipV="1">
            <a:off x="8878824" y="2132380"/>
            <a:ext cx="832104" cy="356616"/>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11996" y="214609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13" name="Connector 12"/>
          <p:cNvCxnSpPr/>
          <p:nvPr/>
        </p:nvCxnSpPr>
        <p:spPr>
          <a:xfrm>
            <a:off x="8878824" y="2488996"/>
            <a:ext cx="832104" cy="38039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11996" y="2514599"/>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7</a:t>
            </a:r>
          </a:p>
        </p:txBody>
      </p:sp>
      <p:cxnSp>
        <p:nvCxnSpPr>
          <p:cNvPr id="15" name="Connector 14"/>
          <p:cNvCxnSpPr/>
          <p:nvPr/>
        </p:nvCxnSpPr>
        <p:spPr>
          <a:xfrm>
            <a:off x="9710928" y="2132380"/>
            <a:ext cx="950976"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03536" y="1967788"/>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5</a:t>
            </a:r>
          </a:p>
        </p:txBody>
      </p:sp>
      <p:cxnSp>
        <p:nvCxnSpPr>
          <p:cNvPr id="17" name="Connector 16"/>
          <p:cNvCxnSpPr/>
          <p:nvPr/>
        </p:nvCxnSpPr>
        <p:spPr>
          <a:xfrm>
            <a:off x="9710928" y="2132380"/>
            <a:ext cx="950976" cy="737007"/>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03536" y="233629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3</a:t>
            </a:r>
          </a:p>
        </p:txBody>
      </p:sp>
      <p:cxnSp>
        <p:nvCxnSpPr>
          <p:cNvPr id="19" name="Connector 18"/>
          <p:cNvCxnSpPr/>
          <p:nvPr/>
        </p:nvCxnSpPr>
        <p:spPr>
          <a:xfrm flipV="1">
            <a:off x="9710928" y="2132380"/>
            <a:ext cx="950976" cy="737007"/>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03536" y="233629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4</a:t>
            </a:r>
          </a:p>
        </p:txBody>
      </p:sp>
      <p:cxnSp>
        <p:nvCxnSpPr>
          <p:cNvPr id="21" name="Connector 20"/>
          <p:cNvCxnSpPr/>
          <p:nvPr/>
        </p:nvCxnSpPr>
        <p:spPr>
          <a:xfrm>
            <a:off x="9710928" y="2869387"/>
            <a:ext cx="950976"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03536" y="2704795"/>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6</a:t>
            </a:r>
          </a:p>
        </p:txBody>
      </p:sp>
      <p:cxnSp>
        <p:nvCxnSpPr>
          <p:cNvPr id="23" name="Connector 22"/>
          <p:cNvCxnSpPr/>
          <p:nvPr/>
        </p:nvCxnSpPr>
        <p:spPr>
          <a:xfrm>
            <a:off x="10661904" y="2132380"/>
            <a:ext cx="832104" cy="356616"/>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95076" y="214609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25" name="Connector 24"/>
          <p:cNvCxnSpPr/>
          <p:nvPr/>
        </p:nvCxnSpPr>
        <p:spPr>
          <a:xfrm flipV="1">
            <a:off x="10661904" y="2488996"/>
            <a:ext cx="832104" cy="38039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895076" y="2514599"/>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9</a:t>
            </a:r>
          </a:p>
        </p:txBody>
      </p:sp>
      <p:sp>
        <p:nvSpPr>
          <p:cNvPr id="27" name="Oval 26"/>
          <p:cNvSpPr/>
          <p:nvPr/>
        </p:nvSpPr>
        <p:spPr>
          <a:xfrm>
            <a:off x="8774216" y="2384389"/>
            <a:ext cx="209214" cy="209214"/>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3236" y="2417673"/>
            <a:ext cx="171175" cy="133136"/>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S</a:t>
            </a:r>
          </a:p>
        </p:txBody>
      </p:sp>
      <p:sp>
        <p:nvSpPr>
          <p:cNvPr id="29" name="Oval 28"/>
          <p:cNvSpPr/>
          <p:nvPr/>
        </p:nvSpPr>
        <p:spPr>
          <a:xfrm>
            <a:off x="9606320" y="2027773"/>
            <a:ext cx="209214" cy="20921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25340" y="2061057"/>
            <a:ext cx="171175" cy="133136"/>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A</a:t>
            </a:r>
          </a:p>
        </p:txBody>
      </p:sp>
      <p:sp>
        <p:nvSpPr>
          <p:cNvPr id="31" name="Oval 30"/>
          <p:cNvSpPr/>
          <p:nvPr/>
        </p:nvSpPr>
        <p:spPr>
          <a:xfrm>
            <a:off x="9606320" y="2764779"/>
            <a:ext cx="209214" cy="20921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25340" y="2798064"/>
            <a:ext cx="171175" cy="133136"/>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B</a:t>
            </a:r>
          </a:p>
        </p:txBody>
      </p:sp>
      <p:sp>
        <p:nvSpPr>
          <p:cNvPr id="33" name="Oval 32"/>
          <p:cNvSpPr/>
          <p:nvPr/>
        </p:nvSpPr>
        <p:spPr>
          <a:xfrm>
            <a:off x="10557296" y="2027773"/>
            <a:ext cx="209214" cy="20921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76316" y="2061057"/>
            <a:ext cx="171175" cy="133136"/>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C</a:t>
            </a:r>
          </a:p>
        </p:txBody>
      </p:sp>
      <p:sp>
        <p:nvSpPr>
          <p:cNvPr id="35" name="Oval 34"/>
          <p:cNvSpPr/>
          <p:nvPr/>
        </p:nvSpPr>
        <p:spPr>
          <a:xfrm>
            <a:off x="10557296" y="2764779"/>
            <a:ext cx="209214" cy="20921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76316" y="2798064"/>
            <a:ext cx="171175" cy="133136"/>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D</a:t>
            </a:r>
          </a:p>
        </p:txBody>
      </p:sp>
      <p:sp>
        <p:nvSpPr>
          <p:cNvPr id="37" name="Oval 36"/>
          <p:cNvSpPr/>
          <p:nvPr/>
        </p:nvSpPr>
        <p:spPr>
          <a:xfrm>
            <a:off x="11389400" y="2384389"/>
            <a:ext cx="209214" cy="209214"/>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408420" y="2417673"/>
            <a:ext cx="171175" cy="133136"/>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T</a:t>
            </a:r>
          </a:p>
        </p:txBody>
      </p:sp>
      <p:sp>
        <p:nvSpPr>
          <p:cNvPr id="39" name="TextBox 38"/>
          <p:cNvSpPr txBox="1"/>
          <p:nvPr/>
        </p:nvSpPr>
        <p:spPr>
          <a:xfrm>
            <a:off x="8686800" y="3794760"/>
            <a:ext cx="3108960" cy="731520"/>
          </a:xfrm>
          <a:prstGeom prst="rect">
            <a:avLst/>
          </a:prstGeom>
          <a:noFill/>
        </p:spPr>
        <p:txBody>
          <a:bodyPr wrap="square" lIns="54864" rIns="54864" tIns="54864" bIns="54864" anchor="t">
            <a:spAutoFit/>
          </a:bodyPr>
          <a:lstStyle/>
          <a:p>
            <a:pPr algn="ctr">
              <a:spcAft>
                <a:spcPts val="700"/>
              </a:spcAft>
              <a:defRPr sz="1600" b="1">
                <a:solidFill>
                  <a:srgbClr val="FFFFFF"/>
                </a:solidFill>
                <a:latin typeface="Aptos"/>
              </a:defRPr>
            </a:pPr>
            <a:r>
              <a:t>Find the greatest possible flow</a:t>
            </a:r>
          </a:p>
          <a:p>
            <a:pPr algn="ctr">
              <a:spcAft>
                <a:spcPts val="700"/>
              </a:spcAft>
              <a:defRPr sz="1600" b="1">
                <a:solidFill>
                  <a:srgbClr val="FFFFFF"/>
                </a:solidFill>
                <a:latin typeface="Aptos"/>
              </a:defRPr>
            </a:pPr>
            <a:r>
              <a:t>through capacity-limited pipes.</a:t>
            </a:r>
          </a:p>
        </p:txBody>
      </p:sp>
      <p:sp>
        <p:nvSpPr>
          <p:cNvPr id="40" name="TextBox 39"/>
          <p:cNvSpPr txBox="1"/>
          <p:nvPr/>
        </p:nvSpPr>
        <p:spPr>
          <a:xfrm>
            <a:off x="8641080" y="6355080"/>
            <a:ext cx="3017520" cy="201168"/>
          </a:xfrm>
          <a:prstGeom prst="rect">
            <a:avLst/>
          </a:prstGeom>
          <a:noFill/>
        </p:spPr>
        <p:txBody>
          <a:bodyPr wrap="square" lIns="54864" rIns="54864" tIns="54864" bIns="54864" anchor="t">
            <a:spAutoFit/>
          </a:bodyPr>
          <a:lstStyle/>
          <a:p>
            <a:pPr algn="ctr">
              <a:spcAft>
                <a:spcPts val="400"/>
              </a:spcAft>
              <a:defRPr sz="900" b="1">
                <a:solidFill>
                  <a:srgbClr val="39B8BE"/>
                </a:solidFill>
                <a:latin typeface="Aptos"/>
              </a:defRPr>
            </a:pPr>
            <a:r>
              <a:t>MAXIMUM FLOW • BFS • GRAPH THEORY</a:t>
            </a:r>
          </a:p>
        </p:txBody>
      </p:sp>
      <p:pic>
        <p:nvPicPr>
          <p:cNvPr id="41" name="Picture 40"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Introduction</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02</a:t>
            </a:r>
          </a:p>
        </p:txBody>
      </p:sp>
      <p:sp>
        <p:nvSpPr>
          <p:cNvPr id="5" name="TextBox 4"/>
          <p:cNvSpPr txBox="1"/>
          <p:nvPr/>
        </p:nvSpPr>
        <p:spPr>
          <a:xfrm>
            <a:off x="685800" y="1097280"/>
            <a:ext cx="5486400" cy="502920"/>
          </a:xfrm>
          <a:prstGeom prst="rect">
            <a:avLst/>
          </a:prstGeom>
          <a:noFill/>
        </p:spPr>
        <p:txBody>
          <a:bodyPr wrap="square" lIns="54864" rIns="54864" tIns="54864" bIns="54864" anchor="t">
            <a:spAutoFit/>
          </a:bodyPr>
          <a:lstStyle/>
          <a:p>
            <a:pPr algn="l">
              <a:spcAft>
                <a:spcPts val="700"/>
              </a:spcAft>
              <a:defRPr sz="2100" b="1">
                <a:solidFill>
                  <a:srgbClr val="12203A"/>
                </a:solidFill>
                <a:latin typeface="Aptos"/>
              </a:defRPr>
            </a:pPr>
            <a:r>
              <a:t>What is a maximum-flow problem?</a:t>
            </a:r>
          </a:p>
        </p:txBody>
      </p:sp>
      <p:sp>
        <p:nvSpPr>
          <p:cNvPr id="6" name="TextBox 5"/>
          <p:cNvSpPr txBox="1"/>
          <p:nvPr/>
        </p:nvSpPr>
        <p:spPr>
          <a:xfrm>
            <a:off x="685800" y="1691640"/>
            <a:ext cx="5303520" cy="1234440"/>
          </a:xfrm>
          <a:prstGeom prst="rect">
            <a:avLst/>
          </a:prstGeom>
          <a:noFill/>
        </p:spPr>
        <p:txBody>
          <a:bodyPr wrap="square" lIns="54864" rIns="54864" tIns="54864" bIns="54864" anchor="t">
            <a:spAutoFit/>
          </a:bodyPr>
          <a:lstStyle/>
          <a:p>
            <a:pPr algn="l">
              <a:spcAft>
                <a:spcPts val="700"/>
              </a:spcAft>
              <a:defRPr sz="1700" b="0">
                <a:solidFill>
                  <a:srgbClr val="263448"/>
                </a:solidFill>
                <a:latin typeface="Aptos"/>
              </a:defRPr>
            </a:pPr>
            <a:r>
              <a:t>A flow network is a directed graph in which each pipe has a capacity. The goal is to send as much water as possible from a source reservoir to a destination.</a:t>
            </a:r>
          </a:p>
        </p:txBody>
      </p:sp>
      <p:sp>
        <p:nvSpPr>
          <p:cNvPr id="7" name="Rounded Rectangle 6"/>
          <p:cNvSpPr/>
          <p:nvPr/>
        </p:nvSpPr>
        <p:spPr>
          <a:xfrm>
            <a:off x="685800" y="3246120"/>
            <a:ext cx="3337560" cy="160020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246120"/>
            <a:ext cx="82296" cy="16002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410712"/>
            <a:ext cx="295351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Nodes</a:t>
            </a:r>
          </a:p>
        </p:txBody>
      </p:sp>
      <p:sp>
        <p:nvSpPr>
          <p:cNvPr id="10" name="TextBox 9"/>
          <p:cNvSpPr txBox="1"/>
          <p:nvPr/>
        </p:nvSpPr>
        <p:spPr>
          <a:xfrm>
            <a:off x="886968" y="3813048"/>
            <a:ext cx="2953512" cy="914400"/>
          </a:xfrm>
          <a:prstGeom prst="rect">
            <a:avLst/>
          </a:prstGeom>
          <a:noFill/>
        </p:spPr>
        <p:txBody>
          <a:bodyPr wrap="square" lIns="54864" rIns="54864" tIns="54864" bIns="54864" anchor="t">
            <a:spAutoFit/>
          </a:bodyPr>
          <a:lstStyle/>
          <a:p>
            <a:pPr algn="l">
              <a:spcAft>
                <a:spcPts val="700"/>
              </a:spcAft>
              <a:defRPr sz="1600" b="0">
                <a:solidFill>
                  <a:srgbClr val="263448"/>
                </a:solidFill>
                <a:latin typeface="Aptos"/>
              </a:defRPr>
            </a:pPr>
            <a:r>
              <a:t>Reservoirs, tanks, and pipe junctions.</a:t>
            </a:r>
          </a:p>
        </p:txBody>
      </p:sp>
      <p:sp>
        <p:nvSpPr>
          <p:cNvPr id="11" name="Rounded Rectangle 10"/>
          <p:cNvSpPr/>
          <p:nvPr/>
        </p:nvSpPr>
        <p:spPr>
          <a:xfrm>
            <a:off x="4160520" y="3246120"/>
            <a:ext cx="3337560" cy="160020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3246120"/>
            <a:ext cx="82296" cy="1600200"/>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3410712"/>
            <a:ext cx="295351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Edges</a:t>
            </a:r>
          </a:p>
        </p:txBody>
      </p:sp>
      <p:sp>
        <p:nvSpPr>
          <p:cNvPr id="14" name="TextBox 13"/>
          <p:cNvSpPr txBox="1"/>
          <p:nvPr/>
        </p:nvSpPr>
        <p:spPr>
          <a:xfrm>
            <a:off x="4361688" y="3813048"/>
            <a:ext cx="2953512" cy="914400"/>
          </a:xfrm>
          <a:prstGeom prst="rect">
            <a:avLst/>
          </a:prstGeom>
          <a:noFill/>
        </p:spPr>
        <p:txBody>
          <a:bodyPr wrap="square" lIns="54864" rIns="54864" tIns="54864" bIns="54864" anchor="t">
            <a:spAutoFit/>
          </a:bodyPr>
          <a:lstStyle/>
          <a:p>
            <a:pPr algn="l">
              <a:spcAft>
                <a:spcPts val="700"/>
              </a:spcAft>
              <a:defRPr sz="1600" b="0">
                <a:solidFill>
                  <a:srgbClr val="263448"/>
                </a:solidFill>
                <a:latin typeface="Aptos"/>
              </a:defRPr>
            </a:pPr>
            <a:r>
              <a:t>Pipes that carry water in one direction.</a:t>
            </a:r>
          </a:p>
        </p:txBody>
      </p:sp>
      <p:sp>
        <p:nvSpPr>
          <p:cNvPr id="15" name="Rounded Rectangle 14"/>
          <p:cNvSpPr/>
          <p:nvPr/>
        </p:nvSpPr>
        <p:spPr>
          <a:xfrm>
            <a:off x="7635240" y="3246120"/>
            <a:ext cx="3611880" cy="160020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35240" y="3246120"/>
            <a:ext cx="82296" cy="1600200"/>
          </a:xfrm>
          <a:prstGeom prst="rect">
            <a:avLst/>
          </a:prstGeom>
          <a:solidFill>
            <a:srgbClr val="279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36408" y="3410712"/>
            <a:ext cx="32278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Capacity</a:t>
            </a:r>
          </a:p>
        </p:txBody>
      </p:sp>
      <p:sp>
        <p:nvSpPr>
          <p:cNvPr id="18" name="TextBox 17"/>
          <p:cNvSpPr txBox="1"/>
          <p:nvPr/>
        </p:nvSpPr>
        <p:spPr>
          <a:xfrm>
            <a:off x="7836408" y="3813048"/>
            <a:ext cx="3227832" cy="914400"/>
          </a:xfrm>
          <a:prstGeom prst="rect">
            <a:avLst/>
          </a:prstGeom>
          <a:noFill/>
        </p:spPr>
        <p:txBody>
          <a:bodyPr wrap="square" lIns="54864" rIns="54864" tIns="54864" bIns="54864" anchor="t">
            <a:spAutoFit/>
          </a:bodyPr>
          <a:lstStyle/>
          <a:p>
            <a:pPr algn="l">
              <a:spcAft>
                <a:spcPts val="700"/>
              </a:spcAft>
              <a:defRPr sz="1600" b="0">
                <a:solidFill>
                  <a:srgbClr val="263448"/>
                </a:solidFill>
                <a:latin typeface="Aptos"/>
              </a:defRPr>
            </a:pPr>
            <a:r>
              <a:t>The maximum amount each pipe can carry.</a:t>
            </a:r>
          </a:p>
        </p:txBody>
      </p:sp>
      <p:sp>
        <p:nvSpPr>
          <p:cNvPr id="19" name="TextBox 18"/>
          <p:cNvSpPr txBox="1"/>
          <p:nvPr/>
        </p:nvSpPr>
        <p:spPr>
          <a:xfrm>
            <a:off x="777240" y="5349240"/>
            <a:ext cx="10515600" cy="594360"/>
          </a:xfrm>
          <a:prstGeom prst="rect">
            <a:avLst/>
          </a:prstGeom>
          <a:noFill/>
        </p:spPr>
        <p:txBody>
          <a:bodyPr wrap="square" lIns="54864" rIns="54864" tIns="54864" bIns="54864" anchor="t">
            <a:spAutoFit/>
          </a:bodyPr>
          <a:lstStyle/>
          <a:p>
            <a:pPr algn="l">
              <a:spcAft>
                <a:spcPts val="700"/>
              </a:spcAft>
              <a:defRPr sz="1800" b="1">
                <a:solidFill>
                  <a:srgbClr val="12203A"/>
                </a:solidFill>
                <a:latin typeface="Aptos"/>
              </a:defRPr>
            </a:pPr>
            <a:r>
              <a:t>The Edmonds–Karp algorithm uses Breadth-First Search (BFS) to find augmenting paths and calculate the maximum possible flow.</a:t>
            </a:r>
          </a:p>
        </p:txBody>
      </p:sp>
      <p:pic>
        <p:nvPicPr>
          <p:cNvPr id="20" name="Picture 19"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Abstract</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03</a:t>
            </a:r>
          </a:p>
        </p:txBody>
      </p:sp>
      <p:sp>
        <p:nvSpPr>
          <p:cNvPr id="5" name="TextBox 4"/>
          <p:cNvSpPr txBox="1"/>
          <p:nvPr/>
        </p:nvSpPr>
        <p:spPr>
          <a:xfrm>
            <a:off x="777240" y="1234440"/>
            <a:ext cx="6583680" cy="4297680"/>
          </a:xfrm>
          <a:prstGeom prst="rect">
            <a:avLst/>
          </a:prstGeom>
          <a:noFill/>
        </p:spPr>
        <p:txBody>
          <a:bodyPr wrap="square" lIns="54864" rIns="54864" tIns="54864" bIns="54864" anchor="t">
            <a:spAutoFit/>
          </a:bodyPr>
          <a:lstStyle/>
          <a:p>
            <a:pPr algn="l">
              <a:spcAft>
                <a:spcPts val="700"/>
              </a:spcAft>
              <a:defRPr sz="1700" b="0">
                <a:solidFill>
                  <a:srgbClr val="263448"/>
                </a:solidFill>
                <a:latin typeface="Aptos"/>
              </a:defRPr>
            </a:pPr>
            <a:r>
              <a:t>This project presents an interactive visualization of the Edmonds–Karp maximum-flow algorithm using a water distribution network as a practical example. The network is represented as a directed graph, where nodes represent reservoirs or junctions and edges represent pipes with limited capacities.</a:t>
            </a:r>
          </a:p>
          <a:p>
            <a:pPr algn="l">
              <a:spcAft>
                <a:spcPts val="700"/>
              </a:spcAft>
              <a:defRPr sz="1700" b="0">
                <a:solidFill>
                  <a:srgbClr val="263448"/>
                </a:solidFill>
                <a:latin typeface="Aptos"/>
              </a:defRPr>
            </a:pPr>
          </a:p>
          <a:p>
            <a:pPr algn="l">
              <a:spcAft>
                <a:spcPts val="700"/>
              </a:spcAft>
              <a:defRPr sz="1700" b="0">
                <a:solidFill>
                  <a:srgbClr val="263448"/>
                </a:solidFill>
                <a:latin typeface="Aptos"/>
              </a:defRPr>
            </a:pPr>
            <a:r>
              <a:t>Breadth-First Search (BFS) identifies an augmenting path from the source to the destination. The algorithm then finds the bottleneck capacity, updates the flow and residual capacities, and repeats the process until no augmenting path remains.</a:t>
            </a:r>
          </a:p>
          <a:p>
            <a:pPr algn="l">
              <a:spcAft>
                <a:spcPts val="700"/>
              </a:spcAft>
              <a:defRPr sz="1700" b="0">
                <a:solidFill>
                  <a:srgbClr val="263448"/>
                </a:solidFill>
                <a:latin typeface="Aptos"/>
              </a:defRPr>
            </a:pPr>
          </a:p>
          <a:p>
            <a:pPr algn="l">
              <a:spcAft>
                <a:spcPts val="700"/>
              </a:spcAft>
              <a:defRPr sz="1700" b="0">
                <a:solidFill>
                  <a:srgbClr val="263448"/>
                </a:solidFill>
                <a:latin typeface="Aptos"/>
              </a:defRPr>
            </a:pPr>
            <a:r>
              <a:t>The website aims to make each step easy to understand through a visual graph and a clear maximum-flow result.</a:t>
            </a:r>
          </a:p>
        </p:txBody>
      </p:sp>
      <p:cxnSp>
        <p:nvCxnSpPr>
          <p:cNvPr id="6" name="Connector 5"/>
          <p:cNvCxnSpPr/>
          <p:nvPr/>
        </p:nvCxnSpPr>
        <p:spPr>
          <a:xfrm flipV="1">
            <a:off x="7763255" y="2014423"/>
            <a:ext cx="928117" cy="397764"/>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044433" y="204871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8" name="Connector 7"/>
          <p:cNvCxnSpPr/>
          <p:nvPr/>
        </p:nvCxnSpPr>
        <p:spPr>
          <a:xfrm>
            <a:off x="7763255" y="2412187"/>
            <a:ext cx="928117" cy="42428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044433" y="245973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7</a:t>
            </a:r>
          </a:p>
        </p:txBody>
      </p:sp>
      <p:cxnSp>
        <p:nvCxnSpPr>
          <p:cNvPr id="10" name="Connector 9"/>
          <p:cNvCxnSpPr/>
          <p:nvPr/>
        </p:nvCxnSpPr>
        <p:spPr>
          <a:xfrm>
            <a:off x="8691372" y="2014423"/>
            <a:ext cx="1060704"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38844" y="184983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5</a:t>
            </a:r>
          </a:p>
        </p:txBody>
      </p:sp>
      <p:cxnSp>
        <p:nvCxnSpPr>
          <p:cNvPr id="12" name="Connector 11"/>
          <p:cNvCxnSpPr/>
          <p:nvPr/>
        </p:nvCxnSpPr>
        <p:spPr>
          <a:xfrm>
            <a:off x="8691372" y="2014423"/>
            <a:ext cx="1060704" cy="82204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038844" y="226085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3</a:t>
            </a:r>
          </a:p>
        </p:txBody>
      </p:sp>
      <p:cxnSp>
        <p:nvCxnSpPr>
          <p:cNvPr id="14" name="Connector 13"/>
          <p:cNvCxnSpPr/>
          <p:nvPr/>
        </p:nvCxnSpPr>
        <p:spPr>
          <a:xfrm flipV="1">
            <a:off x="8691372" y="2014423"/>
            <a:ext cx="1060704" cy="82204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038844" y="226085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4</a:t>
            </a:r>
          </a:p>
        </p:txBody>
      </p:sp>
      <p:cxnSp>
        <p:nvCxnSpPr>
          <p:cNvPr id="16" name="Connector 15"/>
          <p:cNvCxnSpPr/>
          <p:nvPr/>
        </p:nvCxnSpPr>
        <p:spPr>
          <a:xfrm>
            <a:off x="8691372" y="2836468"/>
            <a:ext cx="1060704"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038844" y="267187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6</a:t>
            </a:r>
          </a:p>
        </p:txBody>
      </p:sp>
      <p:cxnSp>
        <p:nvCxnSpPr>
          <p:cNvPr id="18" name="Connector 17"/>
          <p:cNvCxnSpPr/>
          <p:nvPr/>
        </p:nvCxnSpPr>
        <p:spPr>
          <a:xfrm>
            <a:off x="9752076" y="2014423"/>
            <a:ext cx="928116" cy="397764"/>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33254" y="204871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20" name="Connector 19"/>
          <p:cNvCxnSpPr/>
          <p:nvPr/>
        </p:nvCxnSpPr>
        <p:spPr>
          <a:xfrm flipV="1">
            <a:off x="9752076" y="2412187"/>
            <a:ext cx="928116" cy="42428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33254" y="245973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9</a:t>
            </a:r>
          </a:p>
        </p:txBody>
      </p:sp>
      <p:sp>
        <p:nvSpPr>
          <p:cNvPr id="22" name="Oval 21"/>
          <p:cNvSpPr/>
          <p:nvPr/>
        </p:nvSpPr>
        <p:spPr>
          <a:xfrm>
            <a:off x="7646578" y="2295509"/>
            <a:ext cx="233354" cy="233354"/>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67792" y="2332634"/>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S</a:t>
            </a:r>
          </a:p>
        </p:txBody>
      </p:sp>
      <p:sp>
        <p:nvSpPr>
          <p:cNvPr id="24" name="Oval 23"/>
          <p:cNvSpPr/>
          <p:nvPr/>
        </p:nvSpPr>
        <p:spPr>
          <a:xfrm>
            <a:off x="8574694" y="1897745"/>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908" y="1934870"/>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A</a:t>
            </a:r>
          </a:p>
        </p:txBody>
      </p:sp>
      <p:sp>
        <p:nvSpPr>
          <p:cNvPr id="26" name="Oval 25"/>
          <p:cNvSpPr/>
          <p:nvPr/>
        </p:nvSpPr>
        <p:spPr>
          <a:xfrm>
            <a:off x="8574694" y="2719791"/>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908" y="2756915"/>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B</a:t>
            </a:r>
          </a:p>
        </p:txBody>
      </p:sp>
      <p:sp>
        <p:nvSpPr>
          <p:cNvPr id="28" name="Oval 27"/>
          <p:cNvSpPr/>
          <p:nvPr/>
        </p:nvSpPr>
        <p:spPr>
          <a:xfrm>
            <a:off x="9635398" y="1897745"/>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56612" y="1934870"/>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C</a:t>
            </a:r>
          </a:p>
        </p:txBody>
      </p:sp>
      <p:sp>
        <p:nvSpPr>
          <p:cNvPr id="30" name="Oval 29"/>
          <p:cNvSpPr/>
          <p:nvPr/>
        </p:nvSpPr>
        <p:spPr>
          <a:xfrm>
            <a:off x="9635398" y="2719791"/>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56612" y="2756915"/>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D</a:t>
            </a:r>
          </a:p>
        </p:txBody>
      </p:sp>
      <p:sp>
        <p:nvSpPr>
          <p:cNvPr id="32" name="Oval 31"/>
          <p:cNvSpPr/>
          <p:nvPr/>
        </p:nvSpPr>
        <p:spPr>
          <a:xfrm>
            <a:off x="10563514" y="2295509"/>
            <a:ext cx="233354" cy="233354"/>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84728" y="2332634"/>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T</a:t>
            </a:r>
          </a:p>
        </p:txBody>
      </p:sp>
      <p:sp>
        <p:nvSpPr>
          <p:cNvPr id="34" name="TextBox 33"/>
          <p:cNvSpPr txBox="1"/>
          <p:nvPr/>
        </p:nvSpPr>
        <p:spPr>
          <a:xfrm>
            <a:off x="7818120" y="3794760"/>
            <a:ext cx="3108960" cy="548640"/>
          </a:xfrm>
          <a:prstGeom prst="rect">
            <a:avLst/>
          </a:prstGeom>
          <a:noFill/>
        </p:spPr>
        <p:txBody>
          <a:bodyPr wrap="square" lIns="54864" rIns="54864" tIns="54864" bIns="54864" anchor="t">
            <a:spAutoFit/>
          </a:bodyPr>
          <a:lstStyle/>
          <a:p>
            <a:pPr algn="ctr">
              <a:spcAft>
                <a:spcPts val="400"/>
              </a:spcAft>
              <a:defRPr sz="1300" b="0">
                <a:solidFill>
                  <a:srgbClr val="637488"/>
                </a:solidFill>
                <a:latin typeface="Aptos"/>
              </a:defRPr>
            </a:pPr>
            <a:r>
              <a:t>Sample network</a:t>
            </a:r>
          </a:p>
          <a:p>
            <a:pPr algn="ctr">
              <a:spcAft>
                <a:spcPts val="400"/>
              </a:spcAft>
              <a:defRPr sz="1300" b="0">
                <a:solidFill>
                  <a:srgbClr val="637488"/>
                </a:solidFill>
                <a:latin typeface="Aptos"/>
              </a:defRPr>
            </a:pPr>
            <a:r>
              <a:t>Numbers show pipe capacities.</a:t>
            </a:r>
          </a:p>
        </p:txBody>
      </p:sp>
      <p:sp>
        <p:nvSpPr>
          <p:cNvPr id="35" name="Rounded Rectangle 34"/>
          <p:cNvSpPr/>
          <p:nvPr/>
        </p:nvSpPr>
        <p:spPr>
          <a:xfrm>
            <a:off x="7635240" y="4572000"/>
            <a:ext cx="3566160" cy="91440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35240" y="4572000"/>
            <a:ext cx="82296" cy="914400"/>
          </a:xfrm>
          <a:prstGeom prst="rect">
            <a:avLst/>
          </a:prstGeom>
          <a:solidFill>
            <a:srgbClr val="279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36408" y="4736592"/>
            <a:ext cx="318211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Output</a:t>
            </a:r>
          </a:p>
        </p:txBody>
      </p:sp>
      <p:sp>
        <p:nvSpPr>
          <p:cNvPr id="38" name="TextBox 37"/>
          <p:cNvSpPr txBox="1"/>
          <p:nvPr/>
        </p:nvSpPr>
        <p:spPr>
          <a:xfrm>
            <a:off x="7836408" y="5138928"/>
            <a:ext cx="3182112" cy="2286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Maximum flow from source to sink.</a:t>
            </a:r>
          </a:p>
        </p:txBody>
      </p:sp>
      <p:pic>
        <p:nvPicPr>
          <p:cNvPr id="39" name="Picture 38"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Problem Statement and Objectives</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04</a:t>
            </a:r>
          </a:p>
        </p:txBody>
      </p:sp>
      <p:sp>
        <p:nvSpPr>
          <p:cNvPr id="5" name="Rounded Rectangle 4"/>
          <p:cNvSpPr/>
          <p:nvPr/>
        </p:nvSpPr>
        <p:spPr>
          <a:xfrm>
            <a:off x="685800" y="1234440"/>
            <a:ext cx="5212080" cy="182880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82296" cy="18288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399032"/>
            <a:ext cx="48280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Problem Statement</a:t>
            </a:r>
          </a:p>
        </p:txBody>
      </p:sp>
      <p:sp>
        <p:nvSpPr>
          <p:cNvPr id="8" name="TextBox 7"/>
          <p:cNvSpPr txBox="1"/>
          <p:nvPr/>
        </p:nvSpPr>
        <p:spPr>
          <a:xfrm>
            <a:off x="886968" y="1801368"/>
            <a:ext cx="4828032" cy="1143000"/>
          </a:xfrm>
          <a:prstGeom prst="rect">
            <a:avLst/>
          </a:prstGeom>
          <a:noFill/>
        </p:spPr>
        <p:txBody>
          <a:bodyPr wrap="square" lIns="54864" rIns="54864" tIns="54864" bIns="54864" anchor="t">
            <a:spAutoFit/>
          </a:bodyPr>
          <a:lstStyle/>
          <a:p>
            <a:pPr algn="l">
              <a:spcAft>
                <a:spcPts val="700"/>
              </a:spcAft>
              <a:defRPr sz="1700" b="0">
                <a:solidFill>
                  <a:srgbClr val="263448"/>
                </a:solidFill>
                <a:latin typeface="Aptos"/>
              </a:defRPr>
            </a:pPr>
            <a:r>
              <a:t>Water distribution pipes have limited capacities. Finding the greatest amount of water that can reach a destination requires considering all possible routes and their bottlenecks.</a:t>
            </a:r>
          </a:p>
        </p:txBody>
      </p:sp>
      <p:sp>
        <p:nvSpPr>
          <p:cNvPr id="9" name="TextBox 8"/>
          <p:cNvSpPr txBox="1"/>
          <p:nvPr/>
        </p:nvSpPr>
        <p:spPr>
          <a:xfrm>
            <a:off x="777240" y="3429000"/>
            <a:ext cx="5029200" cy="411480"/>
          </a:xfrm>
          <a:prstGeom prst="rect">
            <a:avLst/>
          </a:prstGeom>
          <a:noFill/>
        </p:spPr>
        <p:txBody>
          <a:bodyPr wrap="square" lIns="54864" rIns="54864" tIns="54864" bIns="54864" anchor="t">
            <a:spAutoFit/>
          </a:bodyPr>
          <a:lstStyle/>
          <a:p>
            <a:pPr algn="l">
              <a:spcAft>
                <a:spcPts val="700"/>
              </a:spcAft>
              <a:defRPr sz="1800" b="1">
                <a:solidFill>
                  <a:srgbClr val="12203A"/>
                </a:solidFill>
                <a:latin typeface="Aptos"/>
              </a:defRPr>
            </a:pPr>
            <a:r>
              <a:t>PROJECT OBJECTIVES</a:t>
            </a:r>
          </a:p>
        </p:txBody>
      </p:sp>
      <p:sp>
        <p:nvSpPr>
          <p:cNvPr id="10" name="TextBox 9"/>
          <p:cNvSpPr txBox="1"/>
          <p:nvPr/>
        </p:nvSpPr>
        <p:spPr>
          <a:xfrm>
            <a:off x="777240" y="3886200"/>
            <a:ext cx="5029200" cy="2103120"/>
          </a:xfrm>
          <a:prstGeom prst="rect">
            <a:avLst/>
          </a:prstGeom>
          <a:noFill/>
        </p:spPr>
        <p:txBody>
          <a:bodyPr wrap="square" lIns="73152" rIns="45720" tIns="36576" bIns="27432">
            <a:spAutoFit/>
          </a:bodyPr>
          <a:lstStyle/>
          <a:p>
            <a:pPr>
              <a:spcAft>
                <a:spcPts val="1200"/>
              </a:spcAft>
              <a:defRPr sz="1500">
                <a:solidFill>
                  <a:srgbClr val="263448"/>
                </a:solidFill>
                <a:latin typeface="Aptos"/>
              </a:defRPr>
            </a:pPr>
            <a:r>
              <a:t>•  Represent the water network as a directed graph.</a:t>
            </a:r>
          </a:p>
          <a:p>
            <a:pPr>
              <a:spcAft>
                <a:spcPts val="1200"/>
              </a:spcAft>
              <a:defRPr sz="1500">
                <a:solidFill>
                  <a:srgbClr val="263448"/>
                </a:solidFill>
                <a:latin typeface="Aptos"/>
              </a:defRPr>
            </a:pPr>
            <a:r>
              <a:t>•  Use BFS to find the shortest augmenting path.</a:t>
            </a:r>
          </a:p>
          <a:p>
            <a:pPr>
              <a:spcAft>
                <a:spcPts val="1200"/>
              </a:spcAft>
              <a:defRPr sz="1500">
                <a:solidFill>
                  <a:srgbClr val="263448"/>
                </a:solidFill>
                <a:latin typeface="Aptos"/>
              </a:defRPr>
            </a:pPr>
            <a:r>
              <a:t>•  Update flow and residual capacities after each path.</a:t>
            </a:r>
          </a:p>
          <a:p>
            <a:pPr>
              <a:spcAft>
                <a:spcPts val="1200"/>
              </a:spcAft>
              <a:defRPr sz="1500">
                <a:solidFill>
                  <a:srgbClr val="263448"/>
                </a:solidFill>
                <a:latin typeface="Aptos"/>
              </a:defRPr>
            </a:pPr>
            <a:r>
              <a:t>•  Display the final maximum-flow value clearly.</a:t>
            </a:r>
          </a:p>
        </p:txBody>
      </p:sp>
      <p:cxnSp>
        <p:nvCxnSpPr>
          <p:cNvPr id="11" name="Connector 10"/>
          <p:cNvCxnSpPr/>
          <p:nvPr/>
        </p:nvCxnSpPr>
        <p:spPr>
          <a:xfrm flipV="1">
            <a:off x="6729984" y="2059228"/>
            <a:ext cx="1152143" cy="493776"/>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23176" y="2141524"/>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13" name="Connector 12"/>
          <p:cNvCxnSpPr/>
          <p:nvPr/>
        </p:nvCxnSpPr>
        <p:spPr>
          <a:xfrm>
            <a:off x="6729984" y="2553004"/>
            <a:ext cx="1152143" cy="52669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3176" y="2651760"/>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7</a:t>
            </a:r>
          </a:p>
        </p:txBody>
      </p:sp>
      <p:cxnSp>
        <p:nvCxnSpPr>
          <p:cNvPr id="15" name="Connector 14"/>
          <p:cNvCxnSpPr/>
          <p:nvPr/>
        </p:nvCxnSpPr>
        <p:spPr>
          <a:xfrm>
            <a:off x="7882127" y="2059228"/>
            <a:ext cx="1316737" cy="0"/>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57616" y="189463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5</a:t>
            </a:r>
          </a:p>
        </p:txBody>
      </p:sp>
      <p:cxnSp>
        <p:nvCxnSpPr>
          <p:cNvPr id="17" name="Connector 16"/>
          <p:cNvCxnSpPr/>
          <p:nvPr/>
        </p:nvCxnSpPr>
        <p:spPr>
          <a:xfrm>
            <a:off x="7882127" y="2059228"/>
            <a:ext cx="1316737" cy="102047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357616" y="240487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3</a:t>
            </a:r>
          </a:p>
        </p:txBody>
      </p:sp>
      <p:cxnSp>
        <p:nvCxnSpPr>
          <p:cNvPr id="19" name="Connector 18"/>
          <p:cNvCxnSpPr/>
          <p:nvPr/>
        </p:nvCxnSpPr>
        <p:spPr>
          <a:xfrm flipV="1">
            <a:off x="7882127" y="2059228"/>
            <a:ext cx="1316737" cy="102047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57616" y="240487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4</a:t>
            </a:r>
          </a:p>
        </p:txBody>
      </p:sp>
      <p:cxnSp>
        <p:nvCxnSpPr>
          <p:cNvPr id="21" name="Connector 20"/>
          <p:cNvCxnSpPr/>
          <p:nvPr/>
        </p:nvCxnSpPr>
        <p:spPr>
          <a:xfrm>
            <a:off x="7882127" y="3079699"/>
            <a:ext cx="1316737" cy="0"/>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357616" y="2915107"/>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6</a:t>
            </a:r>
          </a:p>
        </p:txBody>
      </p:sp>
      <p:cxnSp>
        <p:nvCxnSpPr>
          <p:cNvPr id="23" name="Connector 22"/>
          <p:cNvCxnSpPr/>
          <p:nvPr/>
        </p:nvCxnSpPr>
        <p:spPr>
          <a:xfrm>
            <a:off x="9198864" y="2059228"/>
            <a:ext cx="1152144" cy="493776"/>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592056" y="2141524"/>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25" name="Connector 24"/>
          <p:cNvCxnSpPr/>
          <p:nvPr/>
        </p:nvCxnSpPr>
        <p:spPr>
          <a:xfrm flipV="1">
            <a:off x="9198864" y="2553004"/>
            <a:ext cx="1152144" cy="52669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92056" y="2651760"/>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9</a:t>
            </a:r>
          </a:p>
        </p:txBody>
      </p:sp>
      <p:sp>
        <p:nvSpPr>
          <p:cNvPr id="27" name="Oval 26"/>
          <p:cNvSpPr/>
          <p:nvPr/>
        </p:nvSpPr>
        <p:spPr>
          <a:xfrm>
            <a:off x="6585143" y="2408163"/>
            <a:ext cx="289681" cy="289681"/>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11477" y="2454249"/>
            <a:ext cx="237012" cy="184343"/>
          </a:xfrm>
          <a:prstGeom prst="rect">
            <a:avLst/>
          </a:prstGeom>
          <a:noFill/>
        </p:spPr>
        <p:txBody>
          <a:bodyPr wrap="square" lIns="0" rIns="0" tIns="0" bIns="0" anchor="ctr">
            <a:spAutoFit/>
          </a:bodyPr>
          <a:lstStyle/>
          <a:p>
            <a:pPr algn="ctr">
              <a:spcAft>
                <a:spcPts val="400"/>
              </a:spcAft>
              <a:defRPr sz="800" b="1">
                <a:solidFill>
                  <a:srgbClr val="FFFFFF"/>
                </a:solidFill>
                <a:latin typeface="Aptos"/>
              </a:defRPr>
            </a:pPr>
            <a:r>
              <a:t>S</a:t>
            </a:r>
          </a:p>
        </p:txBody>
      </p:sp>
      <p:sp>
        <p:nvSpPr>
          <p:cNvPr id="29" name="Oval 28"/>
          <p:cNvSpPr/>
          <p:nvPr/>
        </p:nvSpPr>
        <p:spPr>
          <a:xfrm>
            <a:off x="7737287" y="1914387"/>
            <a:ext cx="289681" cy="289681"/>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63621" y="1960473"/>
            <a:ext cx="237012" cy="184343"/>
          </a:xfrm>
          <a:prstGeom prst="rect">
            <a:avLst/>
          </a:prstGeom>
          <a:noFill/>
        </p:spPr>
        <p:txBody>
          <a:bodyPr wrap="square" lIns="0" rIns="0" tIns="0" bIns="0" anchor="ctr">
            <a:spAutoFit/>
          </a:bodyPr>
          <a:lstStyle/>
          <a:p>
            <a:pPr algn="ctr">
              <a:spcAft>
                <a:spcPts val="400"/>
              </a:spcAft>
              <a:defRPr sz="800" b="1">
                <a:solidFill>
                  <a:srgbClr val="FFFFFF"/>
                </a:solidFill>
                <a:latin typeface="Aptos"/>
              </a:defRPr>
            </a:pPr>
            <a:r>
              <a:t>A</a:t>
            </a:r>
          </a:p>
        </p:txBody>
      </p:sp>
      <p:sp>
        <p:nvSpPr>
          <p:cNvPr id="31" name="Oval 30"/>
          <p:cNvSpPr/>
          <p:nvPr/>
        </p:nvSpPr>
        <p:spPr>
          <a:xfrm>
            <a:off x="7737287" y="2934858"/>
            <a:ext cx="289681" cy="289681"/>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63621" y="2980944"/>
            <a:ext cx="237012" cy="184343"/>
          </a:xfrm>
          <a:prstGeom prst="rect">
            <a:avLst/>
          </a:prstGeom>
          <a:noFill/>
        </p:spPr>
        <p:txBody>
          <a:bodyPr wrap="square" lIns="0" rIns="0" tIns="0" bIns="0" anchor="ctr">
            <a:spAutoFit/>
          </a:bodyPr>
          <a:lstStyle/>
          <a:p>
            <a:pPr algn="ctr">
              <a:spcAft>
                <a:spcPts val="400"/>
              </a:spcAft>
              <a:defRPr sz="800" b="1">
                <a:solidFill>
                  <a:srgbClr val="FFFFFF"/>
                </a:solidFill>
                <a:latin typeface="Aptos"/>
              </a:defRPr>
            </a:pPr>
            <a:r>
              <a:t>B</a:t>
            </a:r>
          </a:p>
        </p:txBody>
      </p:sp>
      <p:sp>
        <p:nvSpPr>
          <p:cNvPr id="33" name="Oval 32"/>
          <p:cNvSpPr/>
          <p:nvPr/>
        </p:nvSpPr>
        <p:spPr>
          <a:xfrm>
            <a:off x="9054023" y="1914387"/>
            <a:ext cx="289681" cy="289681"/>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80357" y="1960473"/>
            <a:ext cx="237012" cy="184343"/>
          </a:xfrm>
          <a:prstGeom prst="rect">
            <a:avLst/>
          </a:prstGeom>
          <a:noFill/>
        </p:spPr>
        <p:txBody>
          <a:bodyPr wrap="square" lIns="0" rIns="0" tIns="0" bIns="0" anchor="ctr">
            <a:spAutoFit/>
          </a:bodyPr>
          <a:lstStyle/>
          <a:p>
            <a:pPr algn="ctr">
              <a:spcAft>
                <a:spcPts val="400"/>
              </a:spcAft>
              <a:defRPr sz="800" b="1">
                <a:solidFill>
                  <a:srgbClr val="FFFFFF"/>
                </a:solidFill>
                <a:latin typeface="Aptos"/>
              </a:defRPr>
            </a:pPr>
            <a:r>
              <a:t>C</a:t>
            </a:r>
          </a:p>
        </p:txBody>
      </p:sp>
      <p:sp>
        <p:nvSpPr>
          <p:cNvPr id="35" name="Oval 34"/>
          <p:cNvSpPr/>
          <p:nvPr/>
        </p:nvSpPr>
        <p:spPr>
          <a:xfrm>
            <a:off x="9054023" y="2934858"/>
            <a:ext cx="289681" cy="289681"/>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80357" y="2980944"/>
            <a:ext cx="237012" cy="184343"/>
          </a:xfrm>
          <a:prstGeom prst="rect">
            <a:avLst/>
          </a:prstGeom>
          <a:noFill/>
        </p:spPr>
        <p:txBody>
          <a:bodyPr wrap="square" lIns="0" rIns="0" tIns="0" bIns="0" anchor="ctr">
            <a:spAutoFit/>
          </a:bodyPr>
          <a:lstStyle/>
          <a:p>
            <a:pPr algn="ctr">
              <a:spcAft>
                <a:spcPts val="400"/>
              </a:spcAft>
              <a:defRPr sz="800" b="1">
                <a:solidFill>
                  <a:srgbClr val="FFFFFF"/>
                </a:solidFill>
                <a:latin typeface="Aptos"/>
              </a:defRPr>
            </a:pPr>
            <a:r>
              <a:t>D</a:t>
            </a:r>
          </a:p>
        </p:txBody>
      </p:sp>
      <p:sp>
        <p:nvSpPr>
          <p:cNvPr id="37" name="Oval 36"/>
          <p:cNvSpPr/>
          <p:nvPr/>
        </p:nvSpPr>
        <p:spPr>
          <a:xfrm>
            <a:off x="10206167" y="2408163"/>
            <a:ext cx="289681" cy="289681"/>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32501" y="2454249"/>
            <a:ext cx="237012" cy="184343"/>
          </a:xfrm>
          <a:prstGeom prst="rect">
            <a:avLst/>
          </a:prstGeom>
          <a:noFill/>
        </p:spPr>
        <p:txBody>
          <a:bodyPr wrap="square" lIns="0" rIns="0" tIns="0" bIns="0" anchor="ctr">
            <a:spAutoFit/>
          </a:bodyPr>
          <a:lstStyle/>
          <a:p>
            <a:pPr algn="ctr">
              <a:spcAft>
                <a:spcPts val="400"/>
              </a:spcAft>
              <a:defRPr sz="800" b="1">
                <a:solidFill>
                  <a:srgbClr val="FFFFFF"/>
                </a:solidFill>
                <a:latin typeface="Aptos"/>
              </a:defRPr>
            </a:pPr>
            <a:r>
              <a:t>T</a:t>
            </a:r>
          </a:p>
        </p:txBody>
      </p:sp>
      <p:sp>
        <p:nvSpPr>
          <p:cNvPr id="39" name="TextBox 38"/>
          <p:cNvSpPr txBox="1"/>
          <p:nvPr/>
        </p:nvSpPr>
        <p:spPr>
          <a:xfrm>
            <a:off x="6812280" y="3886200"/>
            <a:ext cx="4206240" cy="594360"/>
          </a:xfrm>
          <a:prstGeom prst="rect">
            <a:avLst/>
          </a:prstGeom>
          <a:noFill/>
        </p:spPr>
        <p:txBody>
          <a:bodyPr wrap="square" lIns="54864" rIns="54864" tIns="54864" bIns="54864" anchor="t">
            <a:spAutoFit/>
          </a:bodyPr>
          <a:lstStyle/>
          <a:p>
            <a:pPr algn="ctr">
              <a:spcAft>
                <a:spcPts val="400"/>
              </a:spcAft>
              <a:defRPr sz="1500" b="0">
                <a:solidFill>
                  <a:srgbClr val="637488"/>
                </a:solidFill>
                <a:latin typeface="Aptos"/>
              </a:defRPr>
            </a:pPr>
            <a:r>
              <a:t>Source (S) → destination (T)</a:t>
            </a:r>
          </a:p>
          <a:p>
            <a:pPr algn="ctr">
              <a:spcAft>
                <a:spcPts val="400"/>
              </a:spcAft>
              <a:defRPr sz="1500" b="0">
                <a:solidFill>
                  <a:srgbClr val="637488"/>
                </a:solidFill>
                <a:latin typeface="Aptos"/>
              </a:defRPr>
            </a:pPr>
            <a:r>
              <a:t>Each edge has a fixed capacity.</a:t>
            </a:r>
          </a:p>
        </p:txBody>
      </p:sp>
      <p:pic>
        <p:nvPicPr>
          <p:cNvPr id="40" name="Picture 39"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Hardware and Software Requirements</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05</a:t>
            </a:r>
          </a:p>
        </p:txBody>
      </p:sp>
      <p:sp>
        <p:nvSpPr>
          <p:cNvPr id="5" name="Rounded Rectangle 4"/>
          <p:cNvSpPr/>
          <p:nvPr/>
        </p:nvSpPr>
        <p:spPr>
          <a:xfrm>
            <a:off x="731520" y="1325880"/>
            <a:ext cx="5166360" cy="329184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25880"/>
            <a:ext cx="82296" cy="32918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490472"/>
            <a:ext cx="478231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Hardware Requirements</a:t>
            </a:r>
          </a:p>
        </p:txBody>
      </p:sp>
      <p:sp>
        <p:nvSpPr>
          <p:cNvPr id="8" name="TextBox 7"/>
          <p:cNvSpPr txBox="1"/>
          <p:nvPr/>
        </p:nvSpPr>
        <p:spPr>
          <a:xfrm>
            <a:off x="932688" y="1892807"/>
            <a:ext cx="4782312" cy="2606040"/>
          </a:xfrm>
          <a:prstGeom prst="rect">
            <a:avLst/>
          </a:prstGeom>
          <a:noFill/>
        </p:spPr>
        <p:txBody>
          <a:bodyPr wrap="square" lIns="54864" rIns="54864" tIns="54864" bIns="54864" anchor="t">
            <a:spAutoFit/>
          </a:bodyPr>
          <a:lstStyle/>
          <a:p>
            <a:pPr algn="l">
              <a:spcAft>
                <a:spcPts val="700"/>
              </a:spcAft>
              <a:defRPr sz="1700" b="0">
                <a:solidFill>
                  <a:srgbClr val="263448"/>
                </a:solidFill>
                <a:latin typeface="Aptos"/>
              </a:defRPr>
            </a:pPr>
            <a:r>
              <a:t>• Laptop or desktop computer</a:t>
            </a:r>
          </a:p>
          <a:p>
            <a:pPr algn="l">
              <a:spcAft>
                <a:spcPts val="700"/>
              </a:spcAft>
              <a:defRPr sz="1700" b="0">
                <a:solidFill>
                  <a:srgbClr val="263448"/>
                </a:solidFill>
                <a:latin typeface="Aptos"/>
              </a:defRPr>
            </a:pPr>
            <a:r>
              <a:t>• Minimum 4 GB RAM recommended</a:t>
            </a:r>
          </a:p>
          <a:p>
            <a:pPr algn="l">
              <a:spcAft>
                <a:spcPts val="700"/>
              </a:spcAft>
              <a:defRPr sz="1700" b="0">
                <a:solidFill>
                  <a:srgbClr val="263448"/>
                </a:solidFill>
                <a:latin typeface="Aptos"/>
              </a:defRPr>
            </a:pPr>
            <a:r>
              <a:t>• Keyboard and mouse or touchpad</a:t>
            </a:r>
          </a:p>
          <a:p>
            <a:pPr algn="l">
              <a:spcAft>
                <a:spcPts val="700"/>
              </a:spcAft>
              <a:defRPr sz="1700" b="0">
                <a:solidFill>
                  <a:srgbClr val="263448"/>
                </a:solidFill>
                <a:latin typeface="Aptos"/>
              </a:defRPr>
            </a:pPr>
            <a:r>
              <a:t>• Internet connection for setup (optional during local use)</a:t>
            </a:r>
          </a:p>
        </p:txBody>
      </p:sp>
      <p:sp>
        <p:nvSpPr>
          <p:cNvPr id="9" name="Rounded Rectangle 8"/>
          <p:cNvSpPr/>
          <p:nvPr/>
        </p:nvSpPr>
        <p:spPr>
          <a:xfrm>
            <a:off x="6263640" y="1325880"/>
            <a:ext cx="5166360" cy="329184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325880"/>
            <a:ext cx="82296" cy="3291840"/>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490472"/>
            <a:ext cx="478231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Software Requirements</a:t>
            </a:r>
          </a:p>
        </p:txBody>
      </p:sp>
      <p:sp>
        <p:nvSpPr>
          <p:cNvPr id="12" name="TextBox 11"/>
          <p:cNvSpPr txBox="1"/>
          <p:nvPr/>
        </p:nvSpPr>
        <p:spPr>
          <a:xfrm>
            <a:off x="6464807" y="1892807"/>
            <a:ext cx="4782312" cy="2606040"/>
          </a:xfrm>
          <a:prstGeom prst="rect">
            <a:avLst/>
          </a:prstGeom>
          <a:noFill/>
        </p:spPr>
        <p:txBody>
          <a:bodyPr wrap="square" lIns="54864" rIns="54864" tIns="54864" bIns="54864" anchor="t">
            <a:spAutoFit/>
          </a:bodyPr>
          <a:lstStyle/>
          <a:p>
            <a:pPr algn="l">
              <a:spcAft>
                <a:spcPts val="700"/>
              </a:spcAft>
              <a:defRPr sz="1700" b="0">
                <a:solidFill>
                  <a:srgbClr val="263448"/>
                </a:solidFill>
                <a:latin typeface="Aptos"/>
              </a:defRPr>
            </a:pPr>
            <a:r>
              <a:t>• Operating system: Windows, macOS, or Linux</a:t>
            </a:r>
          </a:p>
          <a:p>
            <a:pPr algn="l">
              <a:spcAft>
                <a:spcPts val="700"/>
              </a:spcAft>
              <a:defRPr sz="1700" b="0">
                <a:solidFill>
                  <a:srgbClr val="263448"/>
                </a:solidFill>
                <a:latin typeface="Aptos"/>
              </a:defRPr>
            </a:pPr>
            <a:r>
              <a:t>• Visual Studio Code</a:t>
            </a:r>
          </a:p>
          <a:p>
            <a:pPr algn="l">
              <a:spcAft>
                <a:spcPts val="700"/>
              </a:spcAft>
              <a:defRPr sz="1700" b="0">
                <a:solidFill>
                  <a:srgbClr val="263448"/>
                </a:solidFill>
                <a:latin typeface="Aptos"/>
              </a:defRPr>
            </a:pPr>
            <a:r>
              <a:t>• HTML for page structure</a:t>
            </a:r>
          </a:p>
          <a:p>
            <a:pPr algn="l">
              <a:spcAft>
                <a:spcPts val="700"/>
              </a:spcAft>
              <a:defRPr sz="1700" b="0">
                <a:solidFill>
                  <a:srgbClr val="263448"/>
                </a:solidFill>
                <a:latin typeface="Aptos"/>
              </a:defRPr>
            </a:pPr>
            <a:r>
              <a:t>• CSS for styling</a:t>
            </a:r>
          </a:p>
          <a:p>
            <a:pPr algn="l">
              <a:spcAft>
                <a:spcPts val="700"/>
              </a:spcAft>
              <a:defRPr sz="1700" b="0">
                <a:solidFill>
                  <a:srgbClr val="263448"/>
                </a:solidFill>
                <a:latin typeface="Aptos"/>
              </a:defRPr>
            </a:pPr>
            <a:r>
              <a:t>• JavaScript for the algorithm and interaction</a:t>
            </a:r>
          </a:p>
          <a:p>
            <a:pPr algn="l">
              <a:spcAft>
                <a:spcPts val="700"/>
              </a:spcAft>
              <a:defRPr sz="1700" b="0">
                <a:solidFill>
                  <a:srgbClr val="263448"/>
                </a:solidFill>
                <a:latin typeface="Aptos"/>
              </a:defRPr>
            </a:pPr>
            <a:r>
              <a:t>• Modern web browser</a:t>
            </a:r>
          </a:p>
        </p:txBody>
      </p:sp>
      <p:sp>
        <p:nvSpPr>
          <p:cNvPr id="13" name="TextBox 12"/>
          <p:cNvSpPr txBox="1"/>
          <p:nvPr/>
        </p:nvSpPr>
        <p:spPr>
          <a:xfrm>
            <a:off x="822960" y="5166360"/>
            <a:ext cx="10424160" cy="548640"/>
          </a:xfrm>
          <a:prstGeom prst="rect">
            <a:avLst/>
          </a:prstGeom>
          <a:noFill/>
        </p:spPr>
        <p:txBody>
          <a:bodyPr wrap="square" lIns="54864" rIns="54864" tIns="54864" bIns="54864" anchor="t">
            <a:spAutoFit/>
          </a:bodyPr>
          <a:lstStyle/>
          <a:p>
            <a:pPr algn="l">
              <a:spcAft>
                <a:spcPts val="700"/>
              </a:spcAft>
              <a:defRPr sz="1800" b="1">
                <a:solidFill>
                  <a:srgbClr val="12203A"/>
                </a:solidFill>
                <a:latin typeface="Aptos"/>
              </a:defRPr>
            </a:pPr>
            <a:r>
              <a:t>No backend or database is required for the basic version. The algorithm can run entirely in the browser.</a:t>
            </a:r>
          </a:p>
        </p:txBody>
      </p:sp>
      <p:pic>
        <p:nvPicPr>
          <p:cNvPr id="14" name="Picture 13"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Results</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06</a:t>
            </a:r>
          </a:p>
        </p:txBody>
      </p:sp>
      <p:sp>
        <p:nvSpPr>
          <p:cNvPr id="5" name="TextBox 4"/>
          <p:cNvSpPr txBox="1"/>
          <p:nvPr/>
        </p:nvSpPr>
        <p:spPr>
          <a:xfrm>
            <a:off x="777240" y="1051560"/>
            <a:ext cx="10515600" cy="457200"/>
          </a:xfrm>
          <a:prstGeom prst="rect">
            <a:avLst/>
          </a:prstGeom>
          <a:noFill/>
        </p:spPr>
        <p:txBody>
          <a:bodyPr wrap="square" lIns="54864" rIns="54864" tIns="54864" bIns="54864" anchor="t">
            <a:spAutoFit/>
          </a:bodyPr>
          <a:lstStyle/>
          <a:p>
            <a:pPr algn="l">
              <a:spcAft>
                <a:spcPts val="700"/>
              </a:spcAft>
              <a:defRPr sz="2100" b="1">
                <a:solidFill>
                  <a:srgbClr val="12203A"/>
                </a:solidFill>
                <a:latin typeface="Aptos"/>
              </a:defRPr>
            </a:pPr>
            <a:r>
              <a:t>Expected website output</a:t>
            </a:r>
          </a:p>
        </p:txBody>
      </p:sp>
      <p:cxnSp>
        <p:nvCxnSpPr>
          <p:cNvPr id="6" name="Connector 5"/>
          <p:cNvCxnSpPr/>
          <p:nvPr/>
        </p:nvCxnSpPr>
        <p:spPr>
          <a:xfrm flipV="1">
            <a:off x="1225295" y="2124151"/>
            <a:ext cx="1248157" cy="534924"/>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66494" y="222702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8" name="Connector 7"/>
          <p:cNvCxnSpPr/>
          <p:nvPr/>
        </p:nvCxnSpPr>
        <p:spPr>
          <a:xfrm>
            <a:off x="1225295" y="2659075"/>
            <a:ext cx="1248157" cy="57058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666494" y="2779775"/>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7</a:t>
            </a:r>
          </a:p>
        </p:txBody>
      </p:sp>
      <p:cxnSp>
        <p:nvCxnSpPr>
          <p:cNvPr id="10" name="Connector 9"/>
          <p:cNvCxnSpPr/>
          <p:nvPr/>
        </p:nvCxnSpPr>
        <p:spPr>
          <a:xfrm>
            <a:off x="2473452" y="2124151"/>
            <a:ext cx="1426463"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003803" y="1959559"/>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5</a:t>
            </a:r>
          </a:p>
        </p:txBody>
      </p:sp>
      <p:cxnSp>
        <p:nvCxnSpPr>
          <p:cNvPr id="12" name="Connector 11"/>
          <p:cNvCxnSpPr/>
          <p:nvPr/>
        </p:nvCxnSpPr>
        <p:spPr>
          <a:xfrm>
            <a:off x="2473452" y="2124151"/>
            <a:ext cx="1426463" cy="1105509"/>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003803" y="2512314"/>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3</a:t>
            </a:r>
          </a:p>
        </p:txBody>
      </p:sp>
      <p:cxnSp>
        <p:nvCxnSpPr>
          <p:cNvPr id="14" name="Connector 13"/>
          <p:cNvCxnSpPr/>
          <p:nvPr/>
        </p:nvCxnSpPr>
        <p:spPr>
          <a:xfrm flipV="1">
            <a:off x="2473452" y="2124151"/>
            <a:ext cx="1426463" cy="1105509"/>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03803" y="2512314"/>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4</a:t>
            </a:r>
          </a:p>
        </p:txBody>
      </p:sp>
      <p:cxnSp>
        <p:nvCxnSpPr>
          <p:cNvPr id="16" name="Connector 15"/>
          <p:cNvCxnSpPr/>
          <p:nvPr/>
        </p:nvCxnSpPr>
        <p:spPr>
          <a:xfrm>
            <a:off x="2473452" y="3229660"/>
            <a:ext cx="1426463"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003803" y="3065068"/>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6</a:t>
            </a:r>
          </a:p>
        </p:txBody>
      </p:sp>
      <p:cxnSp>
        <p:nvCxnSpPr>
          <p:cNvPr id="18" name="Connector 17"/>
          <p:cNvCxnSpPr/>
          <p:nvPr/>
        </p:nvCxnSpPr>
        <p:spPr>
          <a:xfrm>
            <a:off x="3899915" y="2124151"/>
            <a:ext cx="1248157" cy="534924"/>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341114" y="222702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20" name="Connector 19"/>
          <p:cNvCxnSpPr/>
          <p:nvPr/>
        </p:nvCxnSpPr>
        <p:spPr>
          <a:xfrm flipV="1">
            <a:off x="3899915" y="2659075"/>
            <a:ext cx="1248157" cy="57058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41114" y="2779775"/>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9</a:t>
            </a:r>
          </a:p>
        </p:txBody>
      </p:sp>
      <p:sp>
        <p:nvSpPr>
          <p:cNvPr id="22" name="Oval 21"/>
          <p:cNvSpPr/>
          <p:nvPr/>
        </p:nvSpPr>
        <p:spPr>
          <a:xfrm>
            <a:off x="1068384" y="2502164"/>
            <a:ext cx="313822" cy="313822"/>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6914" y="2552090"/>
            <a:ext cx="256763" cy="199704"/>
          </a:xfrm>
          <a:prstGeom prst="rect">
            <a:avLst/>
          </a:prstGeom>
          <a:noFill/>
        </p:spPr>
        <p:txBody>
          <a:bodyPr wrap="square" lIns="0" rIns="0" tIns="0" bIns="0" anchor="ctr">
            <a:spAutoFit/>
          </a:bodyPr>
          <a:lstStyle/>
          <a:p>
            <a:pPr algn="ctr">
              <a:spcAft>
                <a:spcPts val="400"/>
              </a:spcAft>
              <a:defRPr sz="900" b="1">
                <a:solidFill>
                  <a:srgbClr val="FFFFFF"/>
                </a:solidFill>
                <a:latin typeface="Aptos"/>
              </a:defRPr>
            </a:pPr>
            <a:r>
              <a:t>S</a:t>
            </a:r>
          </a:p>
        </p:txBody>
      </p:sp>
      <p:sp>
        <p:nvSpPr>
          <p:cNvPr id="24" name="Oval 23"/>
          <p:cNvSpPr/>
          <p:nvPr/>
        </p:nvSpPr>
        <p:spPr>
          <a:xfrm>
            <a:off x="2316540" y="1967240"/>
            <a:ext cx="313822" cy="313822"/>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45070" y="2017166"/>
            <a:ext cx="256763" cy="199704"/>
          </a:xfrm>
          <a:prstGeom prst="rect">
            <a:avLst/>
          </a:prstGeom>
          <a:noFill/>
        </p:spPr>
        <p:txBody>
          <a:bodyPr wrap="square" lIns="0" rIns="0" tIns="0" bIns="0" anchor="ctr">
            <a:spAutoFit/>
          </a:bodyPr>
          <a:lstStyle/>
          <a:p>
            <a:pPr algn="ctr">
              <a:spcAft>
                <a:spcPts val="400"/>
              </a:spcAft>
              <a:defRPr sz="900" b="1">
                <a:solidFill>
                  <a:srgbClr val="FFFFFF"/>
                </a:solidFill>
                <a:latin typeface="Aptos"/>
              </a:defRPr>
            </a:pPr>
            <a:r>
              <a:t>A</a:t>
            </a:r>
          </a:p>
        </p:txBody>
      </p:sp>
      <p:sp>
        <p:nvSpPr>
          <p:cNvPr id="26" name="Oval 25"/>
          <p:cNvSpPr/>
          <p:nvPr/>
        </p:nvSpPr>
        <p:spPr>
          <a:xfrm>
            <a:off x="2316540" y="3072749"/>
            <a:ext cx="313822" cy="313822"/>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45070" y="3122676"/>
            <a:ext cx="256763" cy="199704"/>
          </a:xfrm>
          <a:prstGeom prst="rect">
            <a:avLst/>
          </a:prstGeom>
          <a:noFill/>
        </p:spPr>
        <p:txBody>
          <a:bodyPr wrap="square" lIns="0" rIns="0" tIns="0" bIns="0" anchor="ctr">
            <a:spAutoFit/>
          </a:bodyPr>
          <a:lstStyle/>
          <a:p>
            <a:pPr algn="ctr">
              <a:spcAft>
                <a:spcPts val="400"/>
              </a:spcAft>
              <a:defRPr sz="900" b="1">
                <a:solidFill>
                  <a:srgbClr val="FFFFFF"/>
                </a:solidFill>
                <a:latin typeface="Aptos"/>
              </a:defRPr>
            </a:pPr>
            <a:r>
              <a:t>B</a:t>
            </a:r>
          </a:p>
        </p:txBody>
      </p:sp>
      <p:sp>
        <p:nvSpPr>
          <p:cNvPr id="28" name="Oval 27"/>
          <p:cNvSpPr/>
          <p:nvPr/>
        </p:nvSpPr>
        <p:spPr>
          <a:xfrm>
            <a:off x="3743004" y="1967240"/>
            <a:ext cx="313822" cy="313822"/>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71534" y="2017166"/>
            <a:ext cx="256763" cy="199704"/>
          </a:xfrm>
          <a:prstGeom prst="rect">
            <a:avLst/>
          </a:prstGeom>
          <a:noFill/>
        </p:spPr>
        <p:txBody>
          <a:bodyPr wrap="square" lIns="0" rIns="0" tIns="0" bIns="0" anchor="ctr">
            <a:spAutoFit/>
          </a:bodyPr>
          <a:lstStyle/>
          <a:p>
            <a:pPr algn="ctr">
              <a:spcAft>
                <a:spcPts val="400"/>
              </a:spcAft>
              <a:defRPr sz="900" b="1">
                <a:solidFill>
                  <a:srgbClr val="FFFFFF"/>
                </a:solidFill>
                <a:latin typeface="Aptos"/>
              </a:defRPr>
            </a:pPr>
            <a:r>
              <a:t>C</a:t>
            </a:r>
          </a:p>
        </p:txBody>
      </p:sp>
      <p:sp>
        <p:nvSpPr>
          <p:cNvPr id="30" name="Oval 29"/>
          <p:cNvSpPr/>
          <p:nvPr/>
        </p:nvSpPr>
        <p:spPr>
          <a:xfrm>
            <a:off x="3743004" y="3072749"/>
            <a:ext cx="313822" cy="313822"/>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71534" y="3122676"/>
            <a:ext cx="256763" cy="199704"/>
          </a:xfrm>
          <a:prstGeom prst="rect">
            <a:avLst/>
          </a:prstGeom>
          <a:noFill/>
        </p:spPr>
        <p:txBody>
          <a:bodyPr wrap="square" lIns="0" rIns="0" tIns="0" bIns="0" anchor="ctr">
            <a:spAutoFit/>
          </a:bodyPr>
          <a:lstStyle/>
          <a:p>
            <a:pPr algn="ctr">
              <a:spcAft>
                <a:spcPts val="400"/>
              </a:spcAft>
              <a:defRPr sz="900" b="1">
                <a:solidFill>
                  <a:srgbClr val="FFFFFF"/>
                </a:solidFill>
                <a:latin typeface="Aptos"/>
              </a:defRPr>
            </a:pPr>
            <a:r>
              <a:t>D</a:t>
            </a:r>
          </a:p>
        </p:txBody>
      </p:sp>
      <p:sp>
        <p:nvSpPr>
          <p:cNvPr id="32" name="Oval 31"/>
          <p:cNvSpPr/>
          <p:nvPr/>
        </p:nvSpPr>
        <p:spPr>
          <a:xfrm>
            <a:off x="4991160" y="2502164"/>
            <a:ext cx="313822" cy="313822"/>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19690" y="2552090"/>
            <a:ext cx="256763" cy="199704"/>
          </a:xfrm>
          <a:prstGeom prst="rect">
            <a:avLst/>
          </a:prstGeom>
          <a:noFill/>
        </p:spPr>
        <p:txBody>
          <a:bodyPr wrap="square" lIns="0" rIns="0" tIns="0" bIns="0" anchor="ctr">
            <a:spAutoFit/>
          </a:bodyPr>
          <a:lstStyle/>
          <a:p>
            <a:pPr algn="ctr">
              <a:spcAft>
                <a:spcPts val="400"/>
              </a:spcAft>
              <a:defRPr sz="900" b="1">
                <a:solidFill>
                  <a:srgbClr val="FFFFFF"/>
                </a:solidFill>
                <a:latin typeface="Aptos"/>
              </a:defRPr>
            </a:pPr>
            <a:r>
              <a:t>T</a:t>
            </a:r>
          </a:p>
        </p:txBody>
      </p:sp>
      <p:sp>
        <p:nvSpPr>
          <p:cNvPr id="34" name="Rounded Rectangle 33"/>
          <p:cNvSpPr/>
          <p:nvPr/>
        </p:nvSpPr>
        <p:spPr>
          <a:xfrm>
            <a:off x="6400800" y="1691640"/>
            <a:ext cx="4754880" cy="109728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1691640"/>
            <a:ext cx="82296" cy="109728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01968" y="1856232"/>
            <a:ext cx="43708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1. Path Identification</a:t>
            </a:r>
          </a:p>
        </p:txBody>
      </p:sp>
      <p:sp>
        <p:nvSpPr>
          <p:cNvPr id="37" name="TextBox 36"/>
          <p:cNvSpPr txBox="1"/>
          <p:nvPr/>
        </p:nvSpPr>
        <p:spPr>
          <a:xfrm>
            <a:off x="6601968" y="2258568"/>
            <a:ext cx="4370832" cy="411479"/>
          </a:xfrm>
          <a:prstGeom prst="rect">
            <a:avLst/>
          </a:prstGeom>
          <a:noFill/>
        </p:spPr>
        <p:txBody>
          <a:bodyPr wrap="square" lIns="54864" rIns="54864" tIns="54864" bIns="54864" anchor="t">
            <a:spAutoFit/>
          </a:bodyPr>
          <a:lstStyle/>
          <a:p>
            <a:pPr algn="l">
              <a:spcAft>
                <a:spcPts val="400"/>
              </a:spcAft>
              <a:defRPr sz="1500" b="0">
                <a:solidFill>
                  <a:srgbClr val="263448"/>
                </a:solidFill>
                <a:latin typeface="Aptos"/>
              </a:defRPr>
            </a:pPr>
            <a:r>
              <a:t>BFS highlights a valid augmenting path.</a:t>
            </a:r>
          </a:p>
        </p:txBody>
      </p:sp>
      <p:sp>
        <p:nvSpPr>
          <p:cNvPr id="38" name="Rounded Rectangle 37"/>
          <p:cNvSpPr/>
          <p:nvPr/>
        </p:nvSpPr>
        <p:spPr>
          <a:xfrm>
            <a:off x="6400800" y="2971800"/>
            <a:ext cx="4754880" cy="109728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0" y="2971800"/>
            <a:ext cx="82296" cy="1097280"/>
          </a:xfrm>
          <a:prstGeom prst="rect">
            <a:avLst/>
          </a:prstGeom>
          <a:solidFill>
            <a:srgbClr val="279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1968" y="3136392"/>
            <a:ext cx="43708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2. Flow Update</a:t>
            </a:r>
          </a:p>
        </p:txBody>
      </p:sp>
      <p:sp>
        <p:nvSpPr>
          <p:cNvPr id="41" name="TextBox 40"/>
          <p:cNvSpPr txBox="1"/>
          <p:nvPr/>
        </p:nvSpPr>
        <p:spPr>
          <a:xfrm>
            <a:off x="6601968" y="3538728"/>
            <a:ext cx="4370832" cy="411479"/>
          </a:xfrm>
          <a:prstGeom prst="rect">
            <a:avLst/>
          </a:prstGeom>
          <a:noFill/>
        </p:spPr>
        <p:txBody>
          <a:bodyPr wrap="square" lIns="54864" rIns="54864" tIns="54864" bIns="54864" anchor="t">
            <a:spAutoFit/>
          </a:bodyPr>
          <a:lstStyle/>
          <a:p>
            <a:pPr algn="l">
              <a:spcAft>
                <a:spcPts val="400"/>
              </a:spcAft>
              <a:defRPr sz="1500" b="0">
                <a:solidFill>
                  <a:srgbClr val="263448"/>
                </a:solidFill>
                <a:latin typeface="Aptos"/>
              </a:defRPr>
            </a:pPr>
            <a:r>
              <a:t>The bottleneck capacity determines how much additional flow is sent.</a:t>
            </a:r>
          </a:p>
        </p:txBody>
      </p:sp>
      <p:sp>
        <p:nvSpPr>
          <p:cNvPr id="42" name="Rounded Rectangle 41"/>
          <p:cNvSpPr/>
          <p:nvPr/>
        </p:nvSpPr>
        <p:spPr>
          <a:xfrm>
            <a:off x="6400800" y="4251960"/>
            <a:ext cx="4754880" cy="109728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0" y="4251960"/>
            <a:ext cx="82296" cy="1097280"/>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01968" y="4416552"/>
            <a:ext cx="43708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3. Final Result</a:t>
            </a:r>
          </a:p>
        </p:txBody>
      </p:sp>
      <p:sp>
        <p:nvSpPr>
          <p:cNvPr id="45" name="TextBox 44"/>
          <p:cNvSpPr txBox="1"/>
          <p:nvPr/>
        </p:nvSpPr>
        <p:spPr>
          <a:xfrm>
            <a:off x="6601968" y="4818888"/>
            <a:ext cx="4370832" cy="411479"/>
          </a:xfrm>
          <a:prstGeom prst="rect">
            <a:avLst/>
          </a:prstGeom>
          <a:noFill/>
        </p:spPr>
        <p:txBody>
          <a:bodyPr wrap="square" lIns="54864" rIns="54864" tIns="54864" bIns="54864" anchor="t">
            <a:spAutoFit/>
          </a:bodyPr>
          <a:lstStyle/>
          <a:p>
            <a:pPr algn="l">
              <a:spcAft>
                <a:spcPts val="400"/>
              </a:spcAft>
              <a:defRPr sz="1500" b="0">
                <a:solidFill>
                  <a:srgbClr val="263448"/>
                </a:solidFill>
                <a:latin typeface="Aptos"/>
              </a:defRPr>
            </a:pPr>
            <a:r>
              <a:t>When no augmenting path remains, the total flow is displayed as the maximum flow.</a:t>
            </a:r>
          </a:p>
        </p:txBody>
      </p:sp>
      <p:sp>
        <p:nvSpPr>
          <p:cNvPr id="46" name="TextBox 45"/>
          <p:cNvSpPr txBox="1"/>
          <p:nvPr/>
        </p:nvSpPr>
        <p:spPr>
          <a:xfrm>
            <a:off x="868680" y="5669280"/>
            <a:ext cx="10149840" cy="320040"/>
          </a:xfrm>
          <a:prstGeom prst="rect">
            <a:avLst/>
          </a:prstGeom>
          <a:noFill/>
        </p:spPr>
        <p:txBody>
          <a:bodyPr wrap="square" lIns="54864" rIns="54864" tIns="54864" bIns="54864" anchor="t">
            <a:spAutoFit/>
          </a:bodyPr>
          <a:lstStyle/>
          <a:p>
            <a:pPr algn="l">
              <a:spcAft>
                <a:spcPts val="400"/>
              </a:spcAft>
              <a:defRPr sz="1300" b="0">
                <a:solidFill>
                  <a:srgbClr val="637488"/>
                </a:solidFill>
                <a:latin typeface="Aptos"/>
              </a:defRPr>
            </a:pPr>
            <a:r>
              <a:t>Note: The final numeric value depends on the capacities entered in the graph.</a:t>
            </a:r>
          </a:p>
        </p:txBody>
      </p:sp>
      <p:pic>
        <p:nvPicPr>
          <p:cNvPr id="47" name="Picture 46"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Project Workflow</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07</a:t>
            </a:r>
          </a:p>
        </p:txBody>
      </p:sp>
      <p:sp>
        <p:nvSpPr>
          <p:cNvPr id="5" name="Oval 4"/>
          <p:cNvSpPr/>
          <p:nvPr/>
        </p:nvSpPr>
        <p:spPr>
          <a:xfrm>
            <a:off x="731520" y="1325880"/>
            <a:ext cx="475488" cy="475488"/>
          </a:xfrm>
          <a:prstGeom prst="ellipse">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380744"/>
            <a:ext cx="438912" cy="310896"/>
          </a:xfrm>
          <a:prstGeom prst="rect">
            <a:avLst/>
          </a:prstGeom>
          <a:noFill/>
        </p:spPr>
        <p:txBody>
          <a:bodyPr wrap="square" lIns="0" rIns="0" tIns="0" bIns="0" anchor="ctr">
            <a:spAutoFit/>
          </a:bodyPr>
          <a:lstStyle/>
          <a:p>
            <a:pPr algn="ctr">
              <a:spcAft>
                <a:spcPts val="400"/>
              </a:spcAft>
              <a:defRPr sz="1500" b="1">
                <a:solidFill>
                  <a:srgbClr val="FFFFFF"/>
                </a:solidFill>
                <a:latin typeface="Aptos"/>
              </a:defRPr>
            </a:pPr>
            <a:r>
              <a:t>1</a:t>
            </a:r>
          </a:p>
        </p:txBody>
      </p:sp>
      <p:sp>
        <p:nvSpPr>
          <p:cNvPr id="7" name="TextBox 6"/>
          <p:cNvSpPr txBox="1"/>
          <p:nvPr/>
        </p:nvSpPr>
        <p:spPr>
          <a:xfrm>
            <a:off x="1353312" y="1344168"/>
            <a:ext cx="2468880"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Create graph</a:t>
            </a:r>
          </a:p>
        </p:txBody>
      </p:sp>
      <p:sp>
        <p:nvSpPr>
          <p:cNvPr id="8" name="TextBox 7"/>
          <p:cNvSpPr txBox="1"/>
          <p:nvPr/>
        </p:nvSpPr>
        <p:spPr>
          <a:xfrm>
            <a:off x="1353312" y="1764792"/>
            <a:ext cx="2514600" cy="9144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Add nodes and directed pipes.</a:t>
            </a:r>
          </a:p>
        </p:txBody>
      </p:sp>
      <p:sp>
        <p:nvSpPr>
          <p:cNvPr id="9" name="Oval 8"/>
          <p:cNvSpPr/>
          <p:nvPr/>
        </p:nvSpPr>
        <p:spPr>
          <a:xfrm>
            <a:off x="4251960" y="1325880"/>
            <a:ext cx="475488" cy="475488"/>
          </a:xfrm>
          <a:prstGeom prst="ellipse">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1380744"/>
            <a:ext cx="438912" cy="310896"/>
          </a:xfrm>
          <a:prstGeom prst="rect">
            <a:avLst/>
          </a:prstGeom>
          <a:noFill/>
        </p:spPr>
        <p:txBody>
          <a:bodyPr wrap="square" lIns="0" rIns="0" tIns="0" bIns="0" anchor="ctr">
            <a:spAutoFit/>
          </a:bodyPr>
          <a:lstStyle/>
          <a:p>
            <a:pPr algn="ctr">
              <a:spcAft>
                <a:spcPts val="400"/>
              </a:spcAft>
              <a:defRPr sz="1500" b="1">
                <a:solidFill>
                  <a:srgbClr val="FFFFFF"/>
                </a:solidFill>
                <a:latin typeface="Aptos"/>
              </a:defRPr>
            </a:pPr>
            <a:r>
              <a:t>2</a:t>
            </a:r>
          </a:p>
        </p:txBody>
      </p:sp>
      <p:sp>
        <p:nvSpPr>
          <p:cNvPr id="11" name="TextBox 10"/>
          <p:cNvSpPr txBox="1"/>
          <p:nvPr/>
        </p:nvSpPr>
        <p:spPr>
          <a:xfrm>
            <a:off x="4873752" y="1344168"/>
            <a:ext cx="2468880"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Set capacities</a:t>
            </a:r>
          </a:p>
        </p:txBody>
      </p:sp>
      <p:sp>
        <p:nvSpPr>
          <p:cNvPr id="12" name="TextBox 11"/>
          <p:cNvSpPr txBox="1"/>
          <p:nvPr/>
        </p:nvSpPr>
        <p:spPr>
          <a:xfrm>
            <a:off x="4873752" y="1764792"/>
            <a:ext cx="2514600" cy="9144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Enter a capacity for every pipe.</a:t>
            </a:r>
          </a:p>
        </p:txBody>
      </p:sp>
      <p:sp>
        <p:nvSpPr>
          <p:cNvPr id="13" name="Oval 12"/>
          <p:cNvSpPr/>
          <p:nvPr/>
        </p:nvSpPr>
        <p:spPr>
          <a:xfrm>
            <a:off x="7772400" y="1325880"/>
            <a:ext cx="475488" cy="475488"/>
          </a:xfrm>
          <a:prstGeom prst="ellipse">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0688" y="1380744"/>
            <a:ext cx="438912" cy="310896"/>
          </a:xfrm>
          <a:prstGeom prst="rect">
            <a:avLst/>
          </a:prstGeom>
          <a:noFill/>
        </p:spPr>
        <p:txBody>
          <a:bodyPr wrap="square" lIns="0" rIns="0" tIns="0" bIns="0" anchor="ctr">
            <a:spAutoFit/>
          </a:bodyPr>
          <a:lstStyle/>
          <a:p>
            <a:pPr algn="ctr">
              <a:spcAft>
                <a:spcPts val="400"/>
              </a:spcAft>
              <a:defRPr sz="1500" b="1">
                <a:solidFill>
                  <a:srgbClr val="FFFFFF"/>
                </a:solidFill>
                <a:latin typeface="Aptos"/>
              </a:defRPr>
            </a:pPr>
            <a:r>
              <a:t>3</a:t>
            </a:r>
          </a:p>
        </p:txBody>
      </p:sp>
      <p:sp>
        <p:nvSpPr>
          <p:cNvPr id="15" name="TextBox 14"/>
          <p:cNvSpPr txBox="1"/>
          <p:nvPr/>
        </p:nvSpPr>
        <p:spPr>
          <a:xfrm>
            <a:off x="8394192" y="1344168"/>
            <a:ext cx="2468880"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Choose S and T</a:t>
            </a:r>
          </a:p>
        </p:txBody>
      </p:sp>
      <p:sp>
        <p:nvSpPr>
          <p:cNvPr id="16" name="TextBox 15"/>
          <p:cNvSpPr txBox="1"/>
          <p:nvPr/>
        </p:nvSpPr>
        <p:spPr>
          <a:xfrm>
            <a:off x="8394192" y="1764792"/>
            <a:ext cx="2514600" cy="9144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Select source and destination.</a:t>
            </a:r>
          </a:p>
        </p:txBody>
      </p:sp>
      <p:sp>
        <p:nvSpPr>
          <p:cNvPr id="17" name="Oval 16"/>
          <p:cNvSpPr/>
          <p:nvPr/>
        </p:nvSpPr>
        <p:spPr>
          <a:xfrm>
            <a:off x="731520" y="3657600"/>
            <a:ext cx="475488" cy="475488"/>
          </a:xfrm>
          <a:prstGeom prst="ellipse">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12463"/>
            <a:ext cx="438912" cy="310896"/>
          </a:xfrm>
          <a:prstGeom prst="rect">
            <a:avLst/>
          </a:prstGeom>
          <a:noFill/>
        </p:spPr>
        <p:txBody>
          <a:bodyPr wrap="square" lIns="0" rIns="0" tIns="0" bIns="0" anchor="ctr">
            <a:spAutoFit/>
          </a:bodyPr>
          <a:lstStyle/>
          <a:p>
            <a:pPr algn="ctr">
              <a:spcAft>
                <a:spcPts val="400"/>
              </a:spcAft>
              <a:defRPr sz="1500" b="1">
                <a:solidFill>
                  <a:srgbClr val="FFFFFF"/>
                </a:solidFill>
                <a:latin typeface="Aptos"/>
              </a:defRPr>
            </a:pPr>
            <a:r>
              <a:t>4</a:t>
            </a:r>
          </a:p>
        </p:txBody>
      </p:sp>
      <p:sp>
        <p:nvSpPr>
          <p:cNvPr id="19" name="TextBox 18"/>
          <p:cNvSpPr txBox="1"/>
          <p:nvPr/>
        </p:nvSpPr>
        <p:spPr>
          <a:xfrm>
            <a:off x="1353312" y="3675887"/>
            <a:ext cx="2468880"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Run BFS</a:t>
            </a:r>
          </a:p>
        </p:txBody>
      </p:sp>
      <p:sp>
        <p:nvSpPr>
          <p:cNvPr id="20" name="TextBox 19"/>
          <p:cNvSpPr txBox="1"/>
          <p:nvPr/>
        </p:nvSpPr>
        <p:spPr>
          <a:xfrm>
            <a:off x="1353312" y="4096512"/>
            <a:ext cx="2514600" cy="9144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Find an augmenting path in the residual graph.</a:t>
            </a:r>
          </a:p>
        </p:txBody>
      </p:sp>
      <p:sp>
        <p:nvSpPr>
          <p:cNvPr id="21" name="Oval 20"/>
          <p:cNvSpPr/>
          <p:nvPr/>
        </p:nvSpPr>
        <p:spPr>
          <a:xfrm>
            <a:off x="4251960" y="3657600"/>
            <a:ext cx="475488" cy="475488"/>
          </a:xfrm>
          <a:prstGeom prst="ellipse">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712463"/>
            <a:ext cx="438912" cy="310896"/>
          </a:xfrm>
          <a:prstGeom prst="rect">
            <a:avLst/>
          </a:prstGeom>
          <a:noFill/>
        </p:spPr>
        <p:txBody>
          <a:bodyPr wrap="square" lIns="0" rIns="0" tIns="0" bIns="0" anchor="ctr">
            <a:spAutoFit/>
          </a:bodyPr>
          <a:lstStyle/>
          <a:p>
            <a:pPr algn="ctr">
              <a:spcAft>
                <a:spcPts val="400"/>
              </a:spcAft>
              <a:defRPr sz="1500" b="1">
                <a:solidFill>
                  <a:srgbClr val="FFFFFF"/>
                </a:solidFill>
                <a:latin typeface="Aptos"/>
              </a:defRPr>
            </a:pPr>
            <a:r>
              <a:t>5</a:t>
            </a:r>
          </a:p>
        </p:txBody>
      </p:sp>
      <p:sp>
        <p:nvSpPr>
          <p:cNvPr id="23" name="TextBox 22"/>
          <p:cNvSpPr txBox="1"/>
          <p:nvPr/>
        </p:nvSpPr>
        <p:spPr>
          <a:xfrm>
            <a:off x="4873752" y="3675887"/>
            <a:ext cx="2468880"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Update flow</a:t>
            </a:r>
          </a:p>
        </p:txBody>
      </p:sp>
      <p:sp>
        <p:nvSpPr>
          <p:cNvPr id="24" name="TextBox 23"/>
          <p:cNvSpPr txBox="1"/>
          <p:nvPr/>
        </p:nvSpPr>
        <p:spPr>
          <a:xfrm>
            <a:off x="4873752" y="4096512"/>
            <a:ext cx="2514600" cy="9144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Apply the bottleneck and update residual capacities.</a:t>
            </a:r>
          </a:p>
        </p:txBody>
      </p:sp>
      <p:sp>
        <p:nvSpPr>
          <p:cNvPr id="25" name="Oval 24"/>
          <p:cNvSpPr/>
          <p:nvPr/>
        </p:nvSpPr>
        <p:spPr>
          <a:xfrm>
            <a:off x="7772400" y="3657600"/>
            <a:ext cx="475488" cy="475488"/>
          </a:xfrm>
          <a:prstGeom prst="ellipse">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90688" y="3712463"/>
            <a:ext cx="438912" cy="310896"/>
          </a:xfrm>
          <a:prstGeom prst="rect">
            <a:avLst/>
          </a:prstGeom>
          <a:noFill/>
        </p:spPr>
        <p:txBody>
          <a:bodyPr wrap="square" lIns="0" rIns="0" tIns="0" bIns="0" anchor="ctr">
            <a:spAutoFit/>
          </a:bodyPr>
          <a:lstStyle/>
          <a:p>
            <a:pPr algn="ctr">
              <a:spcAft>
                <a:spcPts val="400"/>
              </a:spcAft>
              <a:defRPr sz="1500" b="1">
                <a:solidFill>
                  <a:srgbClr val="FFFFFF"/>
                </a:solidFill>
                <a:latin typeface="Aptos"/>
              </a:defRPr>
            </a:pPr>
            <a:r>
              <a:t>6</a:t>
            </a:r>
          </a:p>
        </p:txBody>
      </p:sp>
      <p:sp>
        <p:nvSpPr>
          <p:cNvPr id="27" name="TextBox 26"/>
          <p:cNvSpPr txBox="1"/>
          <p:nvPr/>
        </p:nvSpPr>
        <p:spPr>
          <a:xfrm>
            <a:off x="8394192" y="3675887"/>
            <a:ext cx="2468880"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Repeat and finish</a:t>
            </a:r>
          </a:p>
        </p:txBody>
      </p:sp>
      <p:sp>
        <p:nvSpPr>
          <p:cNvPr id="28" name="TextBox 27"/>
          <p:cNvSpPr txBox="1"/>
          <p:nvPr/>
        </p:nvSpPr>
        <p:spPr>
          <a:xfrm>
            <a:off x="8394192" y="4096512"/>
            <a:ext cx="2514600" cy="914400"/>
          </a:xfrm>
          <a:prstGeom prst="rect">
            <a:avLst/>
          </a:prstGeom>
          <a:noFill/>
        </p:spPr>
        <p:txBody>
          <a:bodyPr wrap="square" lIns="54864" rIns="54864" tIns="54864" bIns="54864" anchor="t">
            <a:spAutoFit/>
          </a:bodyPr>
          <a:lstStyle/>
          <a:p>
            <a:pPr algn="l">
              <a:spcAft>
                <a:spcPts val="400"/>
              </a:spcAft>
              <a:defRPr sz="1400" b="0">
                <a:solidFill>
                  <a:srgbClr val="263448"/>
                </a:solidFill>
                <a:latin typeface="Aptos"/>
              </a:defRPr>
            </a:pPr>
            <a:r>
              <a:t>Stop when no path exists; show maximum flow.</a:t>
            </a:r>
          </a:p>
        </p:txBody>
      </p:sp>
      <p:sp>
        <p:nvSpPr>
          <p:cNvPr id="29" name="TextBox 28"/>
          <p:cNvSpPr txBox="1"/>
          <p:nvPr/>
        </p:nvSpPr>
        <p:spPr>
          <a:xfrm>
            <a:off x="822960" y="5989320"/>
            <a:ext cx="10515600" cy="274320"/>
          </a:xfrm>
          <a:prstGeom prst="rect">
            <a:avLst/>
          </a:prstGeom>
          <a:noFill/>
        </p:spPr>
        <p:txBody>
          <a:bodyPr wrap="square" lIns="54864" rIns="54864" tIns="54864" bIns="54864" anchor="t">
            <a:spAutoFit/>
          </a:bodyPr>
          <a:lstStyle/>
          <a:p>
            <a:pPr algn="ctr">
              <a:spcAft>
                <a:spcPts val="400"/>
              </a:spcAft>
              <a:defRPr sz="1500" b="1">
                <a:solidFill>
                  <a:srgbClr val="279B73"/>
                </a:solidFill>
                <a:latin typeface="Aptos"/>
              </a:defRPr>
            </a:pPr>
            <a:r>
              <a:t>Repeat steps 4–5 until BFS cannot reach the sink in the residual graph.</a:t>
            </a:r>
          </a:p>
        </p:txBody>
      </p:sp>
      <p:pic>
        <p:nvPicPr>
          <p:cNvPr id="30" name="Picture 29"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Literature Survey</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08</a:t>
            </a:r>
          </a:p>
        </p:txBody>
      </p:sp>
      <p:sp>
        <p:nvSpPr>
          <p:cNvPr id="5" name="Rounded Rectangle 4"/>
          <p:cNvSpPr/>
          <p:nvPr/>
        </p:nvSpPr>
        <p:spPr>
          <a:xfrm>
            <a:off x="685800" y="1234440"/>
            <a:ext cx="3520440" cy="333756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82296" cy="333756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399032"/>
            <a:ext cx="313639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Ford–Fulkerson Method</a:t>
            </a:r>
          </a:p>
        </p:txBody>
      </p:sp>
      <p:sp>
        <p:nvSpPr>
          <p:cNvPr id="8" name="TextBox 7"/>
          <p:cNvSpPr txBox="1"/>
          <p:nvPr/>
        </p:nvSpPr>
        <p:spPr>
          <a:xfrm>
            <a:off x="886968" y="1801368"/>
            <a:ext cx="3136392" cy="2651760"/>
          </a:xfrm>
          <a:prstGeom prst="rect">
            <a:avLst/>
          </a:prstGeom>
          <a:noFill/>
        </p:spPr>
        <p:txBody>
          <a:bodyPr wrap="square" lIns="54864" rIns="54864" tIns="54864" bIns="54864" anchor="t">
            <a:spAutoFit/>
          </a:bodyPr>
          <a:lstStyle/>
          <a:p>
            <a:pPr algn="l">
              <a:spcAft>
                <a:spcPts val="700"/>
              </a:spcAft>
              <a:defRPr sz="1600" b="0">
                <a:solidFill>
                  <a:srgbClr val="263448"/>
                </a:solidFill>
                <a:latin typeface="Aptos"/>
              </a:defRPr>
            </a:pPr>
            <a:r>
              <a:t>A foundational maximum-flow method. It repeatedly finds augmenting paths and increases the total flow until no path remains.</a:t>
            </a:r>
          </a:p>
        </p:txBody>
      </p:sp>
      <p:sp>
        <p:nvSpPr>
          <p:cNvPr id="9" name="Rounded Rectangle 8"/>
          <p:cNvSpPr/>
          <p:nvPr/>
        </p:nvSpPr>
        <p:spPr>
          <a:xfrm>
            <a:off x="4343400" y="1234440"/>
            <a:ext cx="3520440" cy="333756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234440"/>
            <a:ext cx="82296" cy="3337560"/>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399032"/>
            <a:ext cx="313639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Edmonds–Karp Algorithm</a:t>
            </a:r>
          </a:p>
        </p:txBody>
      </p:sp>
      <p:sp>
        <p:nvSpPr>
          <p:cNvPr id="12" name="TextBox 11"/>
          <p:cNvSpPr txBox="1"/>
          <p:nvPr/>
        </p:nvSpPr>
        <p:spPr>
          <a:xfrm>
            <a:off x="4544568" y="1801368"/>
            <a:ext cx="3136392" cy="2651760"/>
          </a:xfrm>
          <a:prstGeom prst="rect">
            <a:avLst/>
          </a:prstGeom>
          <a:noFill/>
        </p:spPr>
        <p:txBody>
          <a:bodyPr wrap="square" lIns="54864" rIns="54864" tIns="54864" bIns="54864" anchor="t">
            <a:spAutoFit/>
          </a:bodyPr>
          <a:lstStyle/>
          <a:p>
            <a:pPr algn="l">
              <a:spcAft>
                <a:spcPts val="700"/>
              </a:spcAft>
              <a:defRPr sz="1600" b="0">
                <a:solidFill>
                  <a:srgbClr val="263448"/>
                </a:solidFill>
                <a:latin typeface="Aptos"/>
              </a:defRPr>
            </a:pPr>
            <a:r>
              <a:t>A specific implementation of Ford–Fulkerson that uses BFS to select a path with the fewest edges. Its time complexity is O(VE²).</a:t>
            </a:r>
          </a:p>
        </p:txBody>
      </p:sp>
      <p:sp>
        <p:nvSpPr>
          <p:cNvPr id="13" name="Rounded Rectangle 12"/>
          <p:cNvSpPr/>
          <p:nvPr/>
        </p:nvSpPr>
        <p:spPr>
          <a:xfrm>
            <a:off x="8001000" y="1234440"/>
            <a:ext cx="3520440" cy="333756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1234440"/>
            <a:ext cx="82296" cy="3337560"/>
          </a:xfrm>
          <a:prstGeom prst="rect">
            <a:avLst/>
          </a:prstGeom>
          <a:solidFill>
            <a:srgbClr val="279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2168" y="1399032"/>
            <a:ext cx="313639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Graph Visualization</a:t>
            </a:r>
          </a:p>
        </p:txBody>
      </p:sp>
      <p:sp>
        <p:nvSpPr>
          <p:cNvPr id="16" name="TextBox 15"/>
          <p:cNvSpPr txBox="1"/>
          <p:nvPr/>
        </p:nvSpPr>
        <p:spPr>
          <a:xfrm>
            <a:off x="8202168" y="1801368"/>
            <a:ext cx="3136392" cy="2651760"/>
          </a:xfrm>
          <a:prstGeom prst="rect">
            <a:avLst/>
          </a:prstGeom>
          <a:noFill/>
        </p:spPr>
        <p:txBody>
          <a:bodyPr wrap="square" lIns="54864" rIns="54864" tIns="54864" bIns="54864" anchor="t">
            <a:spAutoFit/>
          </a:bodyPr>
          <a:lstStyle/>
          <a:p>
            <a:pPr algn="l">
              <a:spcAft>
                <a:spcPts val="700"/>
              </a:spcAft>
              <a:defRPr sz="1600" b="0">
                <a:solidFill>
                  <a:srgbClr val="263448"/>
                </a:solidFill>
                <a:latin typeface="Aptos"/>
              </a:defRPr>
            </a:pPr>
            <a:r>
              <a:t>Visual representations of nodes, edges, capacities, and paths help learners follow the algorithm and understand each update.</a:t>
            </a:r>
          </a:p>
        </p:txBody>
      </p:sp>
      <p:sp>
        <p:nvSpPr>
          <p:cNvPr id="17" name="TextBox 16"/>
          <p:cNvSpPr txBox="1"/>
          <p:nvPr/>
        </p:nvSpPr>
        <p:spPr>
          <a:xfrm>
            <a:off x="822960" y="5074920"/>
            <a:ext cx="10424160" cy="68580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Project gap addressed: combine the algorithm's steps with a simple, interactive water-network example for easier learning.</a:t>
            </a:r>
          </a:p>
        </p:txBody>
      </p:sp>
      <p:pic>
        <p:nvPicPr>
          <p:cNvPr id="18" name="Picture 17"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Conclusion</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09</a:t>
            </a:r>
          </a:p>
        </p:txBody>
      </p:sp>
      <p:sp>
        <p:nvSpPr>
          <p:cNvPr id="5" name="TextBox 4"/>
          <p:cNvSpPr txBox="1"/>
          <p:nvPr/>
        </p:nvSpPr>
        <p:spPr>
          <a:xfrm>
            <a:off x="822960" y="1325880"/>
            <a:ext cx="6400800" cy="3566160"/>
          </a:xfrm>
          <a:prstGeom prst="rect">
            <a:avLst/>
          </a:prstGeom>
          <a:noFill/>
        </p:spPr>
        <p:txBody>
          <a:bodyPr wrap="square" lIns="54864" rIns="54864" tIns="54864" bIns="54864" anchor="t">
            <a:spAutoFit/>
          </a:bodyPr>
          <a:lstStyle/>
          <a:p>
            <a:pPr algn="l">
              <a:spcAft>
                <a:spcPts val="700"/>
              </a:spcAft>
              <a:defRPr sz="1900" b="0">
                <a:solidFill>
                  <a:srgbClr val="263448"/>
                </a:solidFill>
                <a:latin typeface="Aptos"/>
              </a:defRPr>
            </a:pPr>
            <a:r>
              <a:t>The project demonstrates how the Edmonds–Karp algorithm calculates maximum flow in a capacity-limited network.</a:t>
            </a:r>
          </a:p>
          <a:p>
            <a:pPr algn="l">
              <a:spcAft>
                <a:spcPts val="700"/>
              </a:spcAft>
              <a:defRPr sz="1900" b="0">
                <a:solidFill>
                  <a:srgbClr val="263448"/>
                </a:solidFill>
                <a:latin typeface="Aptos"/>
              </a:defRPr>
            </a:pPr>
          </a:p>
          <a:p>
            <a:pPr algn="l">
              <a:spcAft>
                <a:spcPts val="700"/>
              </a:spcAft>
              <a:defRPr sz="1900" b="0">
                <a:solidFill>
                  <a:srgbClr val="263448"/>
                </a:solidFill>
                <a:latin typeface="Aptos"/>
              </a:defRPr>
            </a:pPr>
            <a:r>
              <a:t>BFS finds augmenting paths, while residual capacities help determine whether more flow can be sent.</a:t>
            </a:r>
          </a:p>
          <a:p>
            <a:pPr algn="l">
              <a:spcAft>
                <a:spcPts val="700"/>
              </a:spcAft>
              <a:defRPr sz="1900" b="0">
                <a:solidFill>
                  <a:srgbClr val="263448"/>
                </a:solidFill>
                <a:latin typeface="Aptos"/>
              </a:defRPr>
            </a:pPr>
          </a:p>
          <a:p>
            <a:pPr algn="l">
              <a:spcAft>
                <a:spcPts val="700"/>
              </a:spcAft>
              <a:defRPr sz="1900" b="0">
                <a:solidFill>
                  <a:srgbClr val="263448"/>
                </a:solidFill>
                <a:latin typeface="Aptos"/>
              </a:defRPr>
            </a:pPr>
            <a:r>
              <a:t>Using a water distribution example makes the concepts of source, sink, capacity, and maximum flow easier to understand.</a:t>
            </a:r>
          </a:p>
        </p:txBody>
      </p:sp>
      <p:sp>
        <p:nvSpPr>
          <p:cNvPr id="6" name="Rounded Rectangle 5"/>
          <p:cNvSpPr/>
          <p:nvPr/>
        </p:nvSpPr>
        <p:spPr>
          <a:xfrm>
            <a:off x="7635240" y="1508760"/>
            <a:ext cx="3383280" cy="123444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35240" y="1508760"/>
            <a:ext cx="82296" cy="12344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36408" y="1673351"/>
            <a:ext cx="29992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Core concept</a:t>
            </a:r>
          </a:p>
        </p:txBody>
      </p:sp>
      <p:sp>
        <p:nvSpPr>
          <p:cNvPr id="9" name="TextBox 8"/>
          <p:cNvSpPr txBox="1"/>
          <p:nvPr/>
        </p:nvSpPr>
        <p:spPr>
          <a:xfrm>
            <a:off x="7836408" y="2075688"/>
            <a:ext cx="2999232" cy="548640"/>
          </a:xfrm>
          <a:prstGeom prst="rect">
            <a:avLst/>
          </a:prstGeom>
          <a:noFill/>
        </p:spPr>
        <p:txBody>
          <a:bodyPr wrap="square" lIns="54864" rIns="54864" tIns="54864" bIns="54864" anchor="t">
            <a:spAutoFit/>
          </a:bodyPr>
          <a:lstStyle/>
          <a:p>
            <a:pPr algn="l">
              <a:spcAft>
                <a:spcPts val="400"/>
              </a:spcAft>
              <a:defRPr sz="1500" b="0">
                <a:solidFill>
                  <a:srgbClr val="263448"/>
                </a:solidFill>
                <a:latin typeface="Aptos"/>
              </a:defRPr>
            </a:pPr>
            <a:r>
              <a:t>Maximum flow is limited by the available route capacities.</a:t>
            </a:r>
          </a:p>
        </p:txBody>
      </p:sp>
      <p:sp>
        <p:nvSpPr>
          <p:cNvPr id="10" name="Rounded Rectangle 9"/>
          <p:cNvSpPr/>
          <p:nvPr/>
        </p:nvSpPr>
        <p:spPr>
          <a:xfrm>
            <a:off x="7635240" y="2971800"/>
            <a:ext cx="3383280" cy="1234440"/>
          </a:xfrm>
          <a:prstGeom prst="roundRect">
            <a:avLst/>
          </a:prstGeom>
          <a:solidFill>
            <a:srgbClr val="FFFFFF"/>
          </a:solidFill>
          <a:ln>
            <a:solidFill>
              <a:srgbClr val="DC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35240" y="2971800"/>
            <a:ext cx="82296" cy="1234440"/>
          </a:xfrm>
          <a:prstGeom prst="rect">
            <a:avLst/>
          </a:prstGeom>
          <a:solidFill>
            <a:srgbClr val="279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36408" y="3136392"/>
            <a:ext cx="2999232" cy="320040"/>
          </a:xfrm>
          <a:prstGeom prst="rect">
            <a:avLst/>
          </a:prstGeom>
          <a:noFill/>
        </p:spPr>
        <p:txBody>
          <a:bodyPr wrap="square" lIns="54864" rIns="54864" tIns="54864" bIns="54864" anchor="t">
            <a:spAutoFit/>
          </a:bodyPr>
          <a:lstStyle/>
          <a:p>
            <a:pPr algn="l">
              <a:spcAft>
                <a:spcPts val="700"/>
              </a:spcAft>
              <a:defRPr sz="1700" b="1">
                <a:solidFill>
                  <a:srgbClr val="12203A"/>
                </a:solidFill>
                <a:latin typeface="Aptos"/>
              </a:defRPr>
            </a:pPr>
            <a:r>
              <a:t>Learning value</a:t>
            </a:r>
          </a:p>
        </p:txBody>
      </p:sp>
      <p:sp>
        <p:nvSpPr>
          <p:cNvPr id="13" name="TextBox 12"/>
          <p:cNvSpPr txBox="1"/>
          <p:nvPr/>
        </p:nvSpPr>
        <p:spPr>
          <a:xfrm>
            <a:off x="7836408" y="3538728"/>
            <a:ext cx="2999232" cy="548640"/>
          </a:xfrm>
          <a:prstGeom prst="rect">
            <a:avLst/>
          </a:prstGeom>
          <a:noFill/>
        </p:spPr>
        <p:txBody>
          <a:bodyPr wrap="square" lIns="54864" rIns="54864" tIns="54864" bIns="54864" anchor="t">
            <a:spAutoFit/>
          </a:bodyPr>
          <a:lstStyle/>
          <a:p>
            <a:pPr algn="l">
              <a:spcAft>
                <a:spcPts val="400"/>
              </a:spcAft>
              <a:defRPr sz="1500" b="0">
                <a:solidFill>
                  <a:srgbClr val="263448"/>
                </a:solidFill>
                <a:latin typeface="Aptos"/>
              </a:defRPr>
            </a:pPr>
            <a:r>
              <a:t>Step-by-step visualization explains the algorithm clearly.</a:t>
            </a:r>
          </a:p>
        </p:txBody>
      </p:sp>
      <p:sp>
        <p:nvSpPr>
          <p:cNvPr id="14" name="TextBox 13"/>
          <p:cNvSpPr txBox="1"/>
          <p:nvPr/>
        </p:nvSpPr>
        <p:spPr>
          <a:xfrm>
            <a:off x="868680" y="5486400"/>
            <a:ext cx="10058400" cy="457200"/>
          </a:xfrm>
          <a:prstGeom prst="rect">
            <a:avLst/>
          </a:prstGeom>
          <a:noFill/>
        </p:spPr>
        <p:txBody>
          <a:bodyPr wrap="square" lIns="54864" rIns="54864" tIns="54864" bIns="54864" anchor="t">
            <a:spAutoFit/>
          </a:bodyPr>
          <a:lstStyle/>
          <a:p>
            <a:pPr algn="l">
              <a:spcAft>
                <a:spcPts val="700"/>
              </a:spcAft>
              <a:defRPr sz="1900" b="1">
                <a:solidFill>
                  <a:srgbClr val="12203A"/>
                </a:solidFill>
                <a:latin typeface="Aptos"/>
              </a:defRPr>
            </a:pPr>
            <a:r>
              <a:t>Outcome: a clear and accessible educational tool for graph algorithms.</a:t>
            </a:r>
          </a:p>
        </p:txBody>
      </p:sp>
      <p:pic>
        <p:nvPicPr>
          <p:cNvPr id="15" name="Picture 14"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789920" cy="502920"/>
          </a:xfrm>
          <a:prstGeom prst="rect">
            <a:avLst/>
          </a:prstGeom>
          <a:noFill/>
        </p:spPr>
        <p:txBody>
          <a:bodyPr wrap="square" lIns="54864" rIns="54864" tIns="54864" bIns="54864" anchor="t">
            <a:spAutoFit/>
          </a:bodyPr>
          <a:lstStyle/>
          <a:p>
            <a:pPr algn="l">
              <a:spcAft>
                <a:spcPts val="700"/>
              </a:spcAft>
              <a:defRPr sz="2700" b="1">
                <a:solidFill>
                  <a:srgbClr val="12203A"/>
                </a:solidFill>
                <a:latin typeface="Aptos"/>
              </a:defRPr>
            </a:pPr>
            <a:r>
              <a:t>Future Scope</a:t>
            </a:r>
          </a:p>
        </p:txBody>
      </p:sp>
      <p:sp>
        <p:nvSpPr>
          <p:cNvPr id="4" name="TextBox 3"/>
          <p:cNvSpPr txBox="1"/>
          <p:nvPr/>
        </p:nvSpPr>
        <p:spPr>
          <a:xfrm>
            <a:off x="11109960" y="6473952"/>
            <a:ext cx="502920" cy="201168"/>
          </a:xfrm>
          <a:prstGeom prst="rect">
            <a:avLst/>
          </a:prstGeom>
          <a:noFill/>
        </p:spPr>
        <p:txBody>
          <a:bodyPr wrap="square" lIns="54864" rIns="54864" tIns="54864" bIns="54864" anchor="t">
            <a:spAutoFit/>
          </a:bodyPr>
          <a:lstStyle/>
          <a:p>
            <a:pPr algn="r">
              <a:spcAft>
                <a:spcPts val="400"/>
              </a:spcAft>
              <a:defRPr sz="1000" b="1">
                <a:solidFill>
                  <a:srgbClr val="637488"/>
                </a:solidFill>
                <a:latin typeface="Aptos"/>
              </a:defRPr>
            </a:pPr>
            <a:r>
              <a:t>10</a:t>
            </a:r>
          </a:p>
        </p:txBody>
      </p:sp>
      <p:sp>
        <p:nvSpPr>
          <p:cNvPr id="5" name="TextBox 4"/>
          <p:cNvSpPr txBox="1"/>
          <p:nvPr/>
        </p:nvSpPr>
        <p:spPr>
          <a:xfrm>
            <a:off x="822960" y="1325880"/>
            <a:ext cx="6400800" cy="4389120"/>
          </a:xfrm>
          <a:prstGeom prst="rect">
            <a:avLst/>
          </a:prstGeom>
          <a:noFill/>
        </p:spPr>
        <p:txBody>
          <a:bodyPr wrap="square" lIns="73152" rIns="45720" tIns="36576" bIns="27432">
            <a:spAutoFit/>
          </a:bodyPr>
          <a:lstStyle/>
          <a:p>
            <a:pPr>
              <a:spcAft>
                <a:spcPts val="1200"/>
              </a:spcAft>
              <a:defRPr sz="1800">
                <a:solidFill>
                  <a:srgbClr val="263448"/>
                </a:solidFill>
                <a:latin typeface="Aptos"/>
              </a:defRPr>
            </a:pPr>
            <a:r>
              <a:t>•  Allow users to add, move, and connect nodes interactively.</a:t>
            </a:r>
          </a:p>
          <a:p>
            <a:pPr>
              <a:spcAft>
                <a:spcPts val="1200"/>
              </a:spcAft>
              <a:defRPr sz="1800">
                <a:solidFill>
                  <a:srgbClr val="263448"/>
                </a:solidFill>
                <a:latin typeface="Aptos"/>
              </a:defRPr>
            </a:pPr>
            <a:r>
              <a:t>•  Animate water flow along selected pipes.</a:t>
            </a:r>
          </a:p>
          <a:p>
            <a:pPr>
              <a:spcAft>
                <a:spcPts val="1200"/>
              </a:spcAft>
              <a:defRPr sz="1800">
                <a:solidFill>
                  <a:srgbClr val="263448"/>
                </a:solidFill>
                <a:latin typeface="Aptos"/>
              </a:defRPr>
            </a:pPr>
            <a:r>
              <a:t>•  Compare Edmonds–Karp with other maximum-flow algorithms.</a:t>
            </a:r>
          </a:p>
          <a:p>
            <a:pPr>
              <a:spcAft>
                <a:spcPts val="1200"/>
              </a:spcAft>
              <a:defRPr sz="1800">
                <a:solidFill>
                  <a:srgbClr val="263448"/>
                </a:solidFill>
                <a:latin typeface="Aptos"/>
              </a:defRPr>
            </a:pPr>
            <a:r>
              <a:t>•  Add scenarios for pipe blockage, leakage, or capacity changes.</a:t>
            </a:r>
          </a:p>
          <a:p>
            <a:pPr>
              <a:spcAft>
                <a:spcPts val="1200"/>
              </a:spcAft>
              <a:defRPr sz="1800">
                <a:solidFill>
                  <a:srgbClr val="263448"/>
                </a:solidFill>
                <a:latin typeface="Aptos"/>
              </a:defRPr>
            </a:pPr>
            <a:r>
              <a:t>•  Explore real-time sensor data for water networks.</a:t>
            </a:r>
          </a:p>
          <a:p>
            <a:pPr>
              <a:spcAft>
                <a:spcPts val="1200"/>
              </a:spcAft>
              <a:defRPr sz="1800">
                <a:solidFill>
                  <a:srgbClr val="263448"/>
                </a:solidFill>
                <a:latin typeface="Aptos"/>
              </a:defRPr>
            </a:pPr>
            <a:r>
              <a:t>•  Provide downloadable results and step-by-step explanations.</a:t>
            </a:r>
          </a:p>
        </p:txBody>
      </p:sp>
      <p:cxnSp>
        <p:nvCxnSpPr>
          <p:cNvPr id="6" name="Connector 5"/>
          <p:cNvCxnSpPr/>
          <p:nvPr/>
        </p:nvCxnSpPr>
        <p:spPr>
          <a:xfrm flipV="1">
            <a:off x="7717536" y="2014423"/>
            <a:ext cx="928116" cy="397764"/>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998714" y="204871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8" name="Connector 7"/>
          <p:cNvCxnSpPr/>
          <p:nvPr/>
        </p:nvCxnSpPr>
        <p:spPr>
          <a:xfrm>
            <a:off x="7717536" y="2412187"/>
            <a:ext cx="928116" cy="42428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998714" y="245973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7</a:t>
            </a:r>
          </a:p>
        </p:txBody>
      </p:sp>
      <p:cxnSp>
        <p:nvCxnSpPr>
          <p:cNvPr id="10" name="Connector 9"/>
          <p:cNvCxnSpPr/>
          <p:nvPr/>
        </p:nvCxnSpPr>
        <p:spPr>
          <a:xfrm>
            <a:off x="8645652" y="2014423"/>
            <a:ext cx="1060704"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993124" y="1849831"/>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5</a:t>
            </a:r>
          </a:p>
        </p:txBody>
      </p:sp>
      <p:cxnSp>
        <p:nvCxnSpPr>
          <p:cNvPr id="12" name="Connector 11"/>
          <p:cNvCxnSpPr/>
          <p:nvPr/>
        </p:nvCxnSpPr>
        <p:spPr>
          <a:xfrm>
            <a:off x="8645652" y="2014423"/>
            <a:ext cx="1060704" cy="82204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93124" y="226085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3</a:t>
            </a:r>
          </a:p>
        </p:txBody>
      </p:sp>
      <p:cxnSp>
        <p:nvCxnSpPr>
          <p:cNvPr id="14" name="Connector 13"/>
          <p:cNvCxnSpPr/>
          <p:nvPr/>
        </p:nvCxnSpPr>
        <p:spPr>
          <a:xfrm flipV="1">
            <a:off x="8645652" y="2014423"/>
            <a:ext cx="1060704" cy="822045"/>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993124" y="226085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4</a:t>
            </a:r>
          </a:p>
        </p:txBody>
      </p:sp>
      <p:cxnSp>
        <p:nvCxnSpPr>
          <p:cNvPr id="16" name="Connector 15"/>
          <p:cNvCxnSpPr/>
          <p:nvPr/>
        </p:nvCxnSpPr>
        <p:spPr>
          <a:xfrm>
            <a:off x="8645652" y="2836468"/>
            <a:ext cx="1060704" cy="0"/>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993124" y="267187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6</a:t>
            </a:r>
          </a:p>
        </p:txBody>
      </p:sp>
      <p:cxnSp>
        <p:nvCxnSpPr>
          <p:cNvPr id="18" name="Connector 17"/>
          <p:cNvCxnSpPr/>
          <p:nvPr/>
        </p:nvCxnSpPr>
        <p:spPr>
          <a:xfrm>
            <a:off x="9706356" y="2014423"/>
            <a:ext cx="928116" cy="397764"/>
          </a:xfrm>
          <a:prstGeom prst="line">
            <a:avLst/>
          </a:prstGeom>
          <a:ln w="30480">
            <a:solidFill>
              <a:srgbClr val="279B7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987534" y="2048713"/>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8</a:t>
            </a:r>
          </a:p>
        </p:txBody>
      </p:sp>
      <p:cxnSp>
        <p:nvCxnSpPr>
          <p:cNvPr id="20" name="Connector 19"/>
          <p:cNvCxnSpPr/>
          <p:nvPr/>
        </p:nvCxnSpPr>
        <p:spPr>
          <a:xfrm flipV="1">
            <a:off x="9706356" y="2412187"/>
            <a:ext cx="928116" cy="424281"/>
          </a:xfrm>
          <a:prstGeom prst="line">
            <a:avLst/>
          </a:prstGeom>
          <a:ln w="30480">
            <a:solidFill>
              <a:srgbClr val="2B68B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987534" y="2459736"/>
            <a:ext cx="457200" cy="256032"/>
          </a:xfrm>
          <a:prstGeom prst="rect">
            <a:avLst/>
          </a:prstGeom>
          <a:noFill/>
        </p:spPr>
        <p:txBody>
          <a:bodyPr wrap="square" lIns="0" rIns="0" tIns="0" bIns="0" anchor="ctr">
            <a:spAutoFit/>
          </a:bodyPr>
          <a:lstStyle/>
          <a:p>
            <a:pPr algn="ctr">
              <a:spcAft>
                <a:spcPts val="400"/>
              </a:spcAft>
              <a:defRPr sz="1100" b="1">
                <a:solidFill>
                  <a:srgbClr val="12203A"/>
                </a:solidFill>
                <a:latin typeface="Aptos"/>
              </a:defRPr>
            </a:pPr>
            <a:r>
              <a:t>9</a:t>
            </a:r>
          </a:p>
        </p:txBody>
      </p:sp>
      <p:sp>
        <p:nvSpPr>
          <p:cNvPr id="22" name="Oval 21"/>
          <p:cNvSpPr/>
          <p:nvPr/>
        </p:nvSpPr>
        <p:spPr>
          <a:xfrm>
            <a:off x="7600858" y="2295509"/>
            <a:ext cx="233354" cy="233354"/>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2072" y="2332634"/>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S</a:t>
            </a:r>
          </a:p>
        </p:txBody>
      </p:sp>
      <p:sp>
        <p:nvSpPr>
          <p:cNvPr id="24" name="Oval 23"/>
          <p:cNvSpPr/>
          <p:nvPr/>
        </p:nvSpPr>
        <p:spPr>
          <a:xfrm>
            <a:off x="8528974" y="1897745"/>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50188" y="1934870"/>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A</a:t>
            </a:r>
          </a:p>
        </p:txBody>
      </p:sp>
      <p:sp>
        <p:nvSpPr>
          <p:cNvPr id="26" name="Oval 25"/>
          <p:cNvSpPr/>
          <p:nvPr/>
        </p:nvSpPr>
        <p:spPr>
          <a:xfrm>
            <a:off x="8528974" y="2719791"/>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50188" y="2756915"/>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B</a:t>
            </a:r>
          </a:p>
        </p:txBody>
      </p:sp>
      <p:sp>
        <p:nvSpPr>
          <p:cNvPr id="28" name="Oval 27"/>
          <p:cNvSpPr/>
          <p:nvPr/>
        </p:nvSpPr>
        <p:spPr>
          <a:xfrm>
            <a:off x="9589678" y="1897745"/>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10892" y="1934870"/>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C</a:t>
            </a:r>
          </a:p>
        </p:txBody>
      </p:sp>
      <p:sp>
        <p:nvSpPr>
          <p:cNvPr id="30" name="Oval 29"/>
          <p:cNvSpPr/>
          <p:nvPr/>
        </p:nvSpPr>
        <p:spPr>
          <a:xfrm>
            <a:off x="9589678" y="2719791"/>
            <a:ext cx="233354" cy="233354"/>
          </a:xfrm>
          <a:prstGeom prst="ellipse">
            <a:avLst/>
          </a:prstGeom>
          <a:solidFill>
            <a:srgbClr val="2B68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10892" y="2756915"/>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D</a:t>
            </a:r>
          </a:p>
        </p:txBody>
      </p:sp>
      <p:sp>
        <p:nvSpPr>
          <p:cNvPr id="32" name="Oval 31"/>
          <p:cNvSpPr/>
          <p:nvPr/>
        </p:nvSpPr>
        <p:spPr>
          <a:xfrm>
            <a:off x="10517794" y="2295509"/>
            <a:ext cx="233354" cy="233354"/>
          </a:xfrm>
          <a:prstGeom prst="ellipse">
            <a:avLst/>
          </a:prstGeom>
          <a:solidFill>
            <a:srgbClr val="279B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39008" y="2332634"/>
            <a:ext cx="190926" cy="148498"/>
          </a:xfrm>
          <a:prstGeom prst="rect">
            <a:avLst/>
          </a:prstGeom>
          <a:noFill/>
        </p:spPr>
        <p:txBody>
          <a:bodyPr wrap="square" lIns="0" rIns="0" tIns="0" bIns="0" anchor="ctr">
            <a:spAutoFit/>
          </a:bodyPr>
          <a:lstStyle/>
          <a:p>
            <a:pPr algn="ctr">
              <a:spcAft>
                <a:spcPts val="400"/>
              </a:spcAft>
              <a:defRPr sz="600" b="1">
                <a:solidFill>
                  <a:srgbClr val="FFFFFF"/>
                </a:solidFill>
                <a:latin typeface="Aptos"/>
              </a:defRPr>
            </a:pPr>
            <a:r>
              <a:t>T</a:t>
            </a:r>
          </a:p>
        </p:txBody>
      </p:sp>
      <p:sp>
        <p:nvSpPr>
          <p:cNvPr id="34" name="TextBox 33"/>
          <p:cNvSpPr txBox="1"/>
          <p:nvPr/>
        </p:nvSpPr>
        <p:spPr>
          <a:xfrm>
            <a:off x="7726679" y="3886200"/>
            <a:ext cx="3291840" cy="731520"/>
          </a:xfrm>
          <a:prstGeom prst="rect">
            <a:avLst/>
          </a:prstGeom>
          <a:noFill/>
        </p:spPr>
        <p:txBody>
          <a:bodyPr wrap="square" lIns="54864" rIns="54864" tIns="54864" bIns="54864" anchor="t">
            <a:spAutoFit/>
          </a:bodyPr>
          <a:lstStyle/>
          <a:p>
            <a:pPr algn="ctr">
              <a:spcAft>
                <a:spcPts val="400"/>
              </a:spcAft>
              <a:defRPr sz="1500" b="0">
                <a:solidFill>
                  <a:srgbClr val="637488"/>
                </a:solidFill>
                <a:latin typeface="Aptos"/>
              </a:defRPr>
            </a:pPr>
            <a:r>
              <a:t>Future enhancement:</a:t>
            </a:r>
          </a:p>
          <a:p>
            <a:pPr algn="ctr">
              <a:spcAft>
                <a:spcPts val="400"/>
              </a:spcAft>
              <a:defRPr sz="1500" b="0">
                <a:solidFill>
                  <a:srgbClr val="637488"/>
                </a:solidFill>
                <a:latin typeface="Aptos"/>
              </a:defRPr>
            </a:pPr>
            <a:r>
              <a:t>connect visualization to live network data.</a:t>
            </a:r>
          </a:p>
        </p:txBody>
      </p:sp>
      <p:pic>
        <p:nvPicPr>
          <p:cNvPr id="35" name="Picture 34" descr="90554.png"/>
          <p:cNvPicPr>
            <a:picLocks noChangeAspect="1"/>
          </p:cNvPicPr>
          <p:nvPr/>
        </p:nvPicPr>
        <p:blipFill>
          <a:blip r:embed="rId2"/>
          <a:stretch>
            <a:fillRect/>
          </a:stretch>
        </p:blipFill>
        <p:spPr>
          <a:xfrm>
            <a:off x="10652760" y="109728"/>
            <a:ext cx="1234440" cy="8229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pic>
        <p:nvPicPr>
          <p:cNvPr id="2" name="Picture 1" descr="90554.png"/>
          <p:cNvPicPr>
            <a:picLocks noChangeAspect="1"/>
          </p:cNvPicPr>
          <p:nvPr/>
        </p:nvPicPr>
        <p:blipFill>
          <a:blip r:embed="rId2"/>
          <a:stretch>
            <a:fillRect/>
          </a:stretch>
        </p:blipFill>
        <p:spPr>
          <a:xfrm>
            <a:off x="10652760" y="109728"/>
            <a:ext cx="1234440" cy="822960"/>
          </a:xfrm>
          <a:prstGeom prst="rect">
            <a:avLst/>
          </a:prstGeom>
        </p:spPr>
      </p:pic>
      <p:sp>
        <p:nvSpPr>
          <p:cNvPr id="3" name="Rectangle 2"/>
          <p:cNvSpPr/>
          <p:nvPr/>
        </p:nvSpPr>
        <p:spPr>
          <a:xfrm>
            <a:off x="0" y="0"/>
            <a:ext cx="12191695" cy="109728"/>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1005840"/>
          </a:xfrm>
          <a:prstGeom prst="rect">
            <a:avLst/>
          </a:prstGeom>
          <a:noFill/>
        </p:spPr>
        <p:txBody>
          <a:bodyPr wrap="none">
            <a:spAutoFit/>
          </a:bodyPr>
          <a:lstStyle/>
          <a:p>
            <a:pPr algn="ctr">
              <a:defRPr sz="4400" b="1">
                <a:solidFill>
                  <a:srgbClr val="FFFFFF"/>
                </a:solidFill>
                <a:latin typeface="Aptos Display"/>
              </a:defRPr>
            </a:pPr>
            <a:r>
              <a:t>THANK YOU</a:t>
            </a:r>
          </a:p>
        </p:txBody>
      </p:sp>
      <p:sp>
        <p:nvSpPr>
          <p:cNvPr id="5" name="TextBox 4"/>
          <p:cNvSpPr txBox="1"/>
          <p:nvPr/>
        </p:nvSpPr>
        <p:spPr>
          <a:xfrm>
            <a:off x="1371600" y="2971800"/>
            <a:ext cx="9418320" cy="731520"/>
          </a:xfrm>
          <a:prstGeom prst="rect">
            <a:avLst/>
          </a:prstGeom>
          <a:noFill/>
        </p:spPr>
        <p:txBody>
          <a:bodyPr wrap="none">
            <a:spAutoFit/>
          </a:bodyPr>
          <a:lstStyle/>
          <a:p>
            <a:pPr algn="ctr">
              <a:defRPr sz="2400">
                <a:solidFill>
                  <a:srgbClr val="C1DCEF"/>
                </a:solidFill>
                <a:latin typeface="Aptos"/>
              </a:defRPr>
            </a:pPr>
            <a:r>
              <a:t>Questions &amp; Discussion</a:t>
            </a:r>
          </a:p>
        </p:txBody>
      </p:sp>
      <p:sp>
        <p:nvSpPr>
          <p:cNvPr id="6" name="Rectangle 5"/>
          <p:cNvSpPr/>
          <p:nvPr/>
        </p:nvSpPr>
        <p:spPr>
          <a:xfrm>
            <a:off x="5212080" y="3977639"/>
            <a:ext cx="1737360" cy="54864"/>
          </a:xfrm>
          <a:prstGeom prst="rect">
            <a:avLst/>
          </a:prstGeom>
          <a:solidFill>
            <a:srgbClr val="39B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4572000"/>
            <a:ext cx="8503920" cy="777240"/>
          </a:xfrm>
          <a:prstGeom prst="rect">
            <a:avLst/>
          </a:prstGeom>
          <a:noFill/>
        </p:spPr>
        <p:txBody>
          <a:bodyPr wrap="none">
            <a:spAutoFit/>
          </a:bodyPr>
          <a:lstStyle/>
          <a:p>
            <a:pPr algn="ctr">
              <a:defRPr sz="1500">
                <a:solidFill>
                  <a:srgbClr val="FFFFFF"/>
                </a:solidFill>
                <a:latin typeface="Aptos"/>
              </a:defRPr>
            </a:pPr>
            <a:r>
              <a:t>DSA 3  |  Edmonds–Karp Maximum Flow Visualization Using BFS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